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58" r:id="rId7"/>
    <p:sldId id="259" r:id="rId8"/>
    <p:sldId id="267" r:id="rId9"/>
    <p:sldId id="260" r:id="rId10"/>
    <p:sldId id="268" r:id="rId11"/>
    <p:sldId id="261" r:id="rId12"/>
    <p:sldId id="262" r:id="rId13"/>
    <p:sldId id="263" r:id="rId14"/>
    <p:sldId id="264" r:id="rId15"/>
    <p:sldId id="265" r:id="rId16"/>
    <p:sldId id="266"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A33D"/>
    <a:srgbClr val="FFDB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PR-AUC</c:v>
                </c:pt>
              </c:strCache>
            </c:strRef>
          </c:tx>
          <c:spPr>
            <a:solidFill>
              <a:srgbClr val="2B2D33"/>
            </a:solidFill>
            <a:effectLst/>
          </c:spPr>
          <c:invertIfNegative val="0"/>
          <c:cat>
            <c:strRef>
              <c:f>Sheet1!$A$2:$A$7</c:f>
              <c:strCache>
                <c:ptCount val="6"/>
                <c:pt idx="0">
                  <c:v>Logistic Reg.</c:v>
                </c:pt>
                <c:pt idx="1">
                  <c:v>Decision Tree</c:v>
                </c:pt>
                <c:pt idx="2">
                  <c:v>Random Forest</c:v>
                </c:pt>
                <c:pt idx="3">
                  <c:v>RF (tuned)</c:v>
                </c:pt>
                <c:pt idx="4">
                  <c:v>Gradient Boost</c:v>
                </c:pt>
                <c:pt idx="5">
                  <c:v>GB (tuned)</c:v>
                </c:pt>
              </c:strCache>
            </c:strRef>
          </c:cat>
          <c:val>
            <c:numRef>
              <c:f>Sheet1!$B$2:$B$7</c:f>
              <c:numCache>
                <c:formatCode>General</c:formatCode>
                <c:ptCount val="6"/>
                <c:pt idx="0">
                  <c:v>0.46899999999999997</c:v>
                </c:pt>
                <c:pt idx="1">
                  <c:v>0.77300000000000002</c:v>
                </c:pt>
                <c:pt idx="2">
                  <c:v>0.86899999999999999</c:v>
                </c:pt>
                <c:pt idx="3">
                  <c:v>0.86499999999999999</c:v>
                </c:pt>
                <c:pt idx="4">
                  <c:v>0.89400000000000002</c:v>
                </c:pt>
                <c:pt idx="5">
                  <c:v>0.89400000000000002</c:v>
                </c:pt>
              </c:numCache>
            </c:numRef>
          </c:val>
          <c:extLst>
            <c:ext xmlns:c16="http://schemas.microsoft.com/office/drawing/2014/chart" uri="{C3380CC4-5D6E-409C-BE32-E72D297353CC}">
              <c16:uniqueId val="{00000000-FBD1-4A26-9F6B-E1BB419F8713}"/>
            </c:ext>
          </c:extLst>
        </c:ser>
        <c:ser>
          <c:idx val="1"/>
          <c:order val="1"/>
          <c:tx>
            <c:strRef>
              <c:f>Sheet1!$C$1</c:f>
              <c:strCache>
                <c:ptCount val="1"/>
                <c:pt idx="0">
                  <c:v>Recall</c:v>
                </c:pt>
              </c:strCache>
            </c:strRef>
          </c:tx>
          <c:spPr>
            <a:solidFill>
              <a:srgbClr val="E8A33D"/>
            </a:solidFill>
            <a:effectLst/>
          </c:spPr>
          <c:invertIfNegative val="0"/>
          <c:cat>
            <c:strRef>
              <c:f>Sheet1!$A$2:$A$7</c:f>
              <c:strCache>
                <c:ptCount val="6"/>
                <c:pt idx="0">
                  <c:v>Logistic Reg.</c:v>
                </c:pt>
                <c:pt idx="1">
                  <c:v>Decision Tree</c:v>
                </c:pt>
                <c:pt idx="2">
                  <c:v>Random Forest</c:v>
                </c:pt>
                <c:pt idx="3">
                  <c:v>RF (tuned)</c:v>
                </c:pt>
                <c:pt idx="4">
                  <c:v>Gradient Boost</c:v>
                </c:pt>
                <c:pt idx="5">
                  <c:v>GB (tuned)</c:v>
                </c:pt>
              </c:strCache>
            </c:strRef>
          </c:cat>
          <c:val>
            <c:numRef>
              <c:f>Sheet1!$C$2:$C$7</c:f>
              <c:numCache>
                <c:formatCode>General</c:formatCode>
                <c:ptCount val="6"/>
                <c:pt idx="0">
                  <c:v>0.17599999999999999</c:v>
                </c:pt>
                <c:pt idx="1">
                  <c:v>0.82399999999999995</c:v>
                </c:pt>
                <c:pt idx="2">
                  <c:v>0.73499999999999999</c:v>
                </c:pt>
                <c:pt idx="3">
                  <c:v>0.75</c:v>
                </c:pt>
                <c:pt idx="4">
                  <c:v>0.79400000000000004</c:v>
                </c:pt>
                <c:pt idx="5">
                  <c:v>0.77900000000000003</c:v>
                </c:pt>
              </c:numCache>
            </c:numRef>
          </c:val>
          <c:extLst>
            <c:ext xmlns:c16="http://schemas.microsoft.com/office/drawing/2014/chart" uri="{C3380CC4-5D6E-409C-BE32-E72D297353CC}">
              <c16:uniqueId val="{00000001-FBD1-4A26-9F6B-E1BB419F8713}"/>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8EA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695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project builds a predictive maintenance system on the AI4I 2020 dataset. The headline result is a model that catches 94% of machine failures — but the more interesting part of this talk is the two bugs I found along the way, because they changed the result more than any model choice did.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frame every decision in this project. First, failures are only 3.4% of the data — so accuracy is a useless metric; predicting "never fails" gets you 96.6%. Second, the two kinds of mistake cost wildly different amounts. Missing a failure is expensive. A false alarm just wastes an inspection. That asymmetry justifies a design choice I will come back to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I would lead with. The five failure-mode flags are components of the target, not independent predictors — machine failure is essentially their union. An early version of the deep learning notebook used them as inputs and reported 97% recall. That number was leakage, not skill. No amount of cross-validation would have exposed it, because the leak is present in every fold. It required understanding what the columns represented. The fix is structural: one function defines the feature list, both tracks call it, and a test asserts the flags never appear.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engineered features, each chosen for a physical reason rather than found by searching over transformations. Temperature difference catches poor heat dissipation. Mechanical power combines torque and speed into the quantity that actually causes wear. The wear-times-torque interaction captures that a worn tool under load is the dangerous combination. The boxplots on the right show these separate failures from normal operation much better than any single raw sensor does — which matches the weak individual correlations we saw in EDA.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models, all evaluated on the same held-out test set with the same metric function — that is what makes this comparison meaningful rather than seven separate reports. Gradient boosting wins at PR-AUC 0.894. Logistic regression collapses, which tells us the problem is not linearly separable. The class weighting experiment is worth a note: it moved recall from 0.18 to 0.88, but PR-AUC actually fell slightly. Class weighting expresses a cost preference; it does not make a weak model strong.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neural models, both scored on the same test set. And both lose to gradient boosting. I want to be direct about that rather than tune until the sophisticated method happens to edge ahead. Gradient-boosted trees are simply strong on small tabular data — ten thousand rows and nine features is not where a neural network earns its keep. The autoencoder still matters though, for a different reason: it is unsupervised, so it can flag anomalies that look nothing like anything in the training labels. The two approaches are complementary, not competing.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The default 0.5 threshold is an arbitrary convention. Given that missing a failure costs far more than an inspection, we pick the threshold that maximises recall while keeping precision above 30% — a floor representing how many false alarms the team can absorb. That moves recall from 78% to 94%, and cuts missed failures from 22% to under 6%. The bug: the model was originally saved with its default-threshold metrics, so the app would have run at 0.5 and thrown all that away. The lesson is that the decision threshold is part of the model, and it has to survive the handoff to production.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ships as a Streamlit dashboard with three tabs: single machine check, batch scoring, and monitoring. Two details worth noting. First, the app checks each input against the percentile range seen in training and warns when something falls outside it — a guard against being asked to extrapolate. Second, the prediction log uses the same column names as the SQL PredictionHistory table, so predictions flow back into the same database the training data came from. That closes the loop.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bugs I described are now encoded as tests — which is generally how the tests worth keeping get written. Twenty-three tests covering feature formulas, metric correctness, model artifacts, and a headless UI test that drives a real prediction through the app. The other structural decision is that feature engineering lives in exactly one module that the notebook, the app, and the tests all import. Reimplementing it in the app is the classic route to training-serving skew.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what this does not show. The dataset is synthetic, so good metrics validate the methodology, not real-world reliability. There is no real time structure — these are independent snapshots, and real predictive maintenance tracks degradation over time. Random failures are unpredictable by construction, which caps achievable recall. And the 30% precision floor was a reasonable default, not something derived from measured costs — a real deployment should set it from actual inspection and downtime numbers.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best model reaches PR-AUC 0.894 and catches 94% of failures. But the three things I would actually take from this project are not modelling techniques. Understand what your columns mean — the leakage was invisible to cross-validation. The threshold is part of the model and has to survive the handoff to production. And report the honest comparison: deep learning lost here, that is the expected result for small tabular data, and saying so plainly is better practice than tuning until the fancy method wins.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D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2D33"/>
          </a:solidFill>
          <a:ln w="12700">
            <a:solidFill>
              <a:srgbClr val="2B2D33"/>
            </a:solidFill>
            <a:prstDash val="solid"/>
          </a:ln>
        </p:spPr>
        <p:txBody>
          <a:bodyPr/>
          <a:lstStyle/>
          <a:p>
            <a:endParaRPr lang="en-US"/>
          </a:p>
        </p:txBody>
      </p:sp>
      <p:sp>
        <p:nvSpPr>
          <p:cNvPr id="3" name="Shape 1"/>
          <p:cNvSpPr/>
          <p:nvPr/>
        </p:nvSpPr>
        <p:spPr>
          <a:xfrm>
            <a:off x="822960" y="1828800"/>
            <a:ext cx="822960" cy="822960"/>
          </a:xfrm>
          <a:prstGeom prst="roundRect">
            <a:avLst>
              <a:gd name="adj" fmla="val 13333"/>
            </a:avLst>
          </a:prstGeom>
          <a:solidFill>
            <a:srgbClr val="E8A33D"/>
          </a:solidFill>
          <a:ln/>
        </p:spPr>
        <p:txBody>
          <a:bodyPr/>
          <a:lstStyle/>
          <a:p>
            <a:endParaRPr lang="en-US"/>
          </a:p>
        </p:txBody>
      </p:sp>
      <p:sp>
        <p:nvSpPr>
          <p:cNvPr id="4" name="Text 2"/>
          <p:cNvSpPr txBox="1"/>
          <p:nvPr/>
        </p:nvSpPr>
        <p:spPr>
          <a:xfrm>
            <a:off x="822960" y="2029968"/>
            <a:ext cx="822960" cy="420624"/>
          </a:xfrm>
          <a:prstGeom prst="rect">
            <a:avLst/>
          </a:prstGeom>
          <a:noFill/>
          <a:ln/>
        </p:spPr>
        <p:txBody>
          <a:bodyPr wrap="square" lIns="0" tIns="0" rIns="0" bIns="0" rtlCol="0" anchor="ctr"/>
          <a:lstStyle/>
          <a:p>
            <a:pPr marL="0" indent="0" algn="ctr">
              <a:buNone/>
            </a:pPr>
            <a:r>
              <a:rPr lang="en-US" sz="2200" b="1" dirty="0">
                <a:solidFill>
                  <a:srgbClr val="1A1C20"/>
                </a:solidFill>
                <a:latin typeface="Cambria" pitchFamily="34" charset="0"/>
                <a:ea typeface="Cambria" pitchFamily="34" charset="-122"/>
                <a:cs typeface="Cambria" pitchFamily="34" charset="-120"/>
              </a:rPr>
              <a:t>PM</a:t>
            </a:r>
            <a:endParaRPr lang="en-US" sz="2200" dirty="0"/>
          </a:p>
        </p:txBody>
      </p:sp>
      <p:sp>
        <p:nvSpPr>
          <p:cNvPr id="5" name="Text 3"/>
          <p:cNvSpPr txBox="1"/>
          <p:nvPr/>
        </p:nvSpPr>
        <p:spPr>
          <a:xfrm>
            <a:off x="822960" y="2880360"/>
            <a:ext cx="10515600" cy="7772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Industrial Predictive</a:t>
            </a:r>
            <a:endParaRPr lang="en-US" sz="4600" dirty="0"/>
          </a:p>
        </p:txBody>
      </p:sp>
      <p:sp>
        <p:nvSpPr>
          <p:cNvPr id="6" name="Text 4"/>
          <p:cNvSpPr txBox="1"/>
          <p:nvPr/>
        </p:nvSpPr>
        <p:spPr>
          <a:xfrm>
            <a:off x="822960" y="3611880"/>
            <a:ext cx="10515600" cy="7772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Maintenance &amp; Failure Prevention</a:t>
            </a:r>
            <a:endParaRPr lang="en-US" sz="4600" dirty="0"/>
          </a:p>
        </p:txBody>
      </p:sp>
      <p:sp>
        <p:nvSpPr>
          <p:cNvPr id="7" name="Text 5"/>
          <p:cNvSpPr txBox="1"/>
          <p:nvPr/>
        </p:nvSpPr>
        <p:spPr>
          <a:xfrm>
            <a:off x="841248" y="4526280"/>
            <a:ext cx="10241280" cy="365760"/>
          </a:xfrm>
          <a:prstGeom prst="rect">
            <a:avLst/>
          </a:prstGeom>
          <a:noFill/>
          <a:ln/>
        </p:spPr>
        <p:txBody>
          <a:bodyPr wrap="square" lIns="0" tIns="0" rIns="0" bIns="0" rtlCol="0" anchor="ctr"/>
          <a:lstStyle/>
          <a:p>
            <a:pPr marL="0" indent="0">
              <a:buNone/>
            </a:pPr>
            <a:r>
              <a:rPr lang="en-US" sz="1500" dirty="0">
                <a:solidFill>
                  <a:srgbClr val="B8BEC9"/>
                </a:solidFill>
                <a:latin typeface="Calibri" pitchFamily="34" charset="0"/>
                <a:ea typeface="Calibri" pitchFamily="34" charset="-122"/>
                <a:cs typeface="Calibri" pitchFamily="34" charset="-120"/>
              </a:rPr>
              <a:t>Predicting machine failure from sensor data — and knowing what the number is worth</a:t>
            </a:r>
            <a:endParaRPr lang="en-US" sz="1500" dirty="0"/>
          </a:p>
        </p:txBody>
      </p:sp>
      <p:sp>
        <p:nvSpPr>
          <p:cNvPr id="8" name="Text 6"/>
          <p:cNvSpPr txBox="1"/>
          <p:nvPr/>
        </p:nvSpPr>
        <p:spPr>
          <a:xfrm>
            <a:off x="841248" y="5760720"/>
            <a:ext cx="10241280" cy="320040"/>
          </a:xfrm>
          <a:prstGeom prst="rect">
            <a:avLst/>
          </a:prstGeom>
          <a:noFill/>
          <a:ln/>
        </p:spPr>
        <p:txBody>
          <a:bodyPr wrap="square" lIns="0" tIns="0" rIns="0" bIns="0" rtlCol="0" anchor="ctr"/>
          <a:lstStyle/>
          <a:p>
            <a:pPr marL="0" indent="0">
              <a:buNone/>
            </a:pPr>
            <a:r>
              <a:rPr lang="en-US" sz="1200" kern="0" spc="100" dirty="0">
                <a:solidFill>
                  <a:srgbClr val="E8A33D"/>
                </a:solidFill>
                <a:latin typeface="Calibri" pitchFamily="34" charset="0"/>
                <a:ea typeface="Calibri" pitchFamily="34" charset="-122"/>
                <a:cs typeface="Calibri" pitchFamily="34" charset="-120"/>
              </a:rPr>
              <a:t>Graduation Project  ·  Advanced Data Science &amp; AI  ·  AI4I 2020 Dataset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Rare, expensive, and invisible until it happens</a:t>
            </a:r>
            <a:endParaRPr lang="en-US" sz="3200" dirty="0"/>
          </a:p>
        </p:txBody>
      </p:sp>
      <p:sp>
        <p:nvSpPr>
          <p:cNvPr id="4" name="Text 2"/>
          <p:cNvSpPr txBox="1"/>
          <p:nvPr/>
        </p:nvSpPr>
        <p:spPr>
          <a:xfrm>
            <a:off x="548640" y="1600200"/>
            <a:ext cx="6035040" cy="2194560"/>
          </a:xfrm>
          <a:prstGeom prst="rect">
            <a:avLst/>
          </a:prstGeom>
          <a:noFill/>
          <a:ln/>
        </p:spPr>
        <p:txBody>
          <a:bodyPr wrap="square" lIns="0" tIns="0" rIns="0" bIns="0" rtlCol="0" anchor="ctr"/>
          <a:lstStyle/>
          <a:p>
            <a:pPr marL="0" indent="0">
              <a:lnSpc>
                <a:spcPts val="2400"/>
              </a:lnSpc>
              <a:spcAft>
                <a:spcPts val="1000"/>
              </a:spcAft>
              <a:buNone/>
            </a:pPr>
            <a:r>
              <a:rPr lang="en-US" sz="1500" dirty="0">
                <a:solidFill>
                  <a:srgbClr val="1A1C20"/>
                </a:solidFill>
                <a:latin typeface="Calibri" pitchFamily="34" charset="0"/>
                <a:ea typeface="Calibri" pitchFamily="34" charset="-122"/>
                <a:cs typeface="Calibri" pitchFamily="34" charset="-120"/>
              </a:rPr>
              <a:t>A machine fails. Production stops, tooling is damaged, and scheduled maintenance becomes emergency repair.</a:t>
            </a:r>
            <a:endParaRPr lang="en-US" sz="1500" dirty="0"/>
          </a:p>
          <a:p>
            <a:pPr marL="0" indent="0">
              <a:lnSpc>
                <a:spcPts val="2400"/>
              </a:lnSpc>
              <a:spcAft>
                <a:spcPts val="1000"/>
              </a:spcAft>
              <a:buNone/>
            </a:pPr>
            <a:r>
              <a:rPr lang="en-US" sz="1500" dirty="0">
                <a:solidFill>
                  <a:srgbClr val="1A1C20"/>
                </a:solidFill>
                <a:latin typeface="Calibri" pitchFamily="34" charset="0"/>
                <a:ea typeface="Calibri" pitchFamily="34" charset="-122"/>
                <a:cs typeface="Calibri" pitchFamily="34" charset="-120"/>
              </a:rPr>
              <a:t>Every machine already reports five cheap measurements: air temperature, process temperature, rotational speed, torque, and tool wear.</a:t>
            </a:r>
            <a:endParaRPr lang="en-US" sz="1500" dirty="0"/>
          </a:p>
          <a:p>
            <a:pPr marL="0" indent="0">
              <a:lnSpc>
                <a:spcPts val="2400"/>
              </a:lnSpc>
              <a:buNone/>
            </a:pPr>
            <a:r>
              <a:rPr lang="en-US" sz="1500" b="1" dirty="0">
                <a:solidFill>
                  <a:srgbClr val="1A1C20"/>
                </a:solidFill>
                <a:latin typeface="Calibri" pitchFamily="34" charset="0"/>
                <a:ea typeface="Calibri" pitchFamily="34" charset="-122"/>
                <a:cs typeface="Calibri" pitchFamily="34" charset="-120"/>
              </a:rPr>
              <a:t>The question: given those readings right now, how likely is this machine to fail — and should someone look at it?</a:t>
            </a:r>
            <a:endParaRPr lang="en-US" sz="1500" dirty="0"/>
          </a:p>
        </p:txBody>
      </p:sp>
      <p:sp>
        <p:nvSpPr>
          <p:cNvPr id="5" name="Shape 3"/>
          <p:cNvSpPr/>
          <p:nvPr/>
        </p:nvSpPr>
        <p:spPr>
          <a:xfrm>
            <a:off x="6949440" y="1600200"/>
            <a:ext cx="4663440" cy="2148840"/>
          </a:xfrm>
          <a:prstGeom prst="roundRect">
            <a:avLst>
              <a:gd name="adj" fmla="val 4255"/>
            </a:avLst>
          </a:prstGeom>
          <a:solidFill>
            <a:srgbClr val="2B2D33"/>
          </a:solidFill>
          <a:ln/>
        </p:spPr>
        <p:txBody>
          <a:bodyPr/>
          <a:lstStyle/>
          <a:p>
            <a:endParaRPr lang="en-US"/>
          </a:p>
        </p:txBody>
      </p:sp>
      <p:sp>
        <p:nvSpPr>
          <p:cNvPr id="6" name="Text 4"/>
          <p:cNvSpPr txBox="1"/>
          <p:nvPr/>
        </p:nvSpPr>
        <p:spPr>
          <a:xfrm>
            <a:off x="6949440" y="1828800"/>
            <a:ext cx="4663440" cy="868680"/>
          </a:xfrm>
          <a:prstGeom prst="rect">
            <a:avLst/>
          </a:prstGeom>
          <a:noFill/>
          <a:ln/>
        </p:spPr>
        <p:txBody>
          <a:bodyPr wrap="square" lIns="0" tIns="0" rIns="0" bIns="0" rtlCol="0" anchor="ctr"/>
          <a:lstStyle/>
          <a:p>
            <a:pPr marL="0" indent="0" algn="ctr">
              <a:buNone/>
            </a:pPr>
            <a:r>
              <a:rPr lang="en-US" sz="5400" b="1" dirty="0">
                <a:solidFill>
                  <a:srgbClr val="E8A33D"/>
                </a:solidFill>
                <a:latin typeface="Cambria" pitchFamily="34" charset="0"/>
                <a:ea typeface="Cambria" pitchFamily="34" charset="-122"/>
                <a:cs typeface="Cambria" pitchFamily="34" charset="-120"/>
              </a:rPr>
              <a:t>3.4%</a:t>
            </a:r>
            <a:endParaRPr lang="en-US" sz="5400" dirty="0"/>
          </a:p>
        </p:txBody>
      </p:sp>
      <p:sp>
        <p:nvSpPr>
          <p:cNvPr id="7" name="Text 5"/>
          <p:cNvSpPr txBox="1"/>
          <p:nvPr/>
        </p:nvSpPr>
        <p:spPr>
          <a:xfrm>
            <a:off x="6949440" y="2670048"/>
            <a:ext cx="4663440" cy="274320"/>
          </a:xfrm>
          <a:prstGeom prst="rect">
            <a:avLst/>
          </a:prstGeom>
          <a:noFill/>
          <a:ln/>
        </p:spPr>
        <p:txBody>
          <a:bodyPr wrap="square" lIns="0" tIns="0" rIns="0" bIns="0" rtlCol="0" anchor="ctr"/>
          <a:lstStyle/>
          <a:p>
            <a:pPr marL="0" indent="0" algn="ctr">
              <a:buNone/>
            </a:pPr>
            <a:r>
              <a:rPr lang="en-US" sz="1300" dirty="0">
                <a:solidFill>
                  <a:srgbClr val="B8BEC9"/>
                </a:solidFill>
                <a:latin typeface="Calibri" pitchFamily="34" charset="0"/>
                <a:ea typeface="Calibri" pitchFamily="34" charset="-122"/>
                <a:cs typeface="Calibri" pitchFamily="34" charset="-120"/>
              </a:rPr>
              <a:t>of records are failures</a:t>
            </a:r>
            <a:endParaRPr lang="en-US" sz="1300" dirty="0"/>
          </a:p>
        </p:txBody>
      </p:sp>
      <p:sp>
        <p:nvSpPr>
          <p:cNvPr id="8" name="Text 6"/>
          <p:cNvSpPr txBox="1"/>
          <p:nvPr/>
        </p:nvSpPr>
        <p:spPr>
          <a:xfrm>
            <a:off x="7178040" y="3035808"/>
            <a:ext cx="4206240" cy="54864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A model that always says "no failure"</a:t>
            </a:r>
            <a:endParaRPr lang="en-US" sz="1200" dirty="0"/>
          </a:p>
          <a:p>
            <a:pPr marL="0" indent="0" algn="ctr">
              <a:buNone/>
            </a:pPr>
            <a:r>
              <a:rPr lang="en-US" sz="1200" i="1" dirty="0">
                <a:solidFill>
                  <a:srgbClr val="FFFFFF"/>
                </a:solidFill>
                <a:latin typeface="Calibri" pitchFamily="34" charset="0"/>
                <a:ea typeface="Calibri" pitchFamily="34" charset="-122"/>
                <a:cs typeface="Calibri" pitchFamily="34" charset="-120"/>
              </a:rPr>
              <a:t>scores 96.6% accuracy — and is useless.</a:t>
            </a:r>
            <a:endParaRPr lang="en-US" sz="1200" dirty="0"/>
          </a:p>
        </p:txBody>
      </p:sp>
      <p:sp>
        <p:nvSpPr>
          <p:cNvPr id="9" name="Text 7"/>
          <p:cNvSpPr txBox="1"/>
          <p:nvPr/>
        </p:nvSpPr>
        <p:spPr>
          <a:xfrm>
            <a:off x="548640" y="4069080"/>
            <a:ext cx="11064240" cy="320040"/>
          </a:xfrm>
          <a:prstGeom prst="rect">
            <a:avLst/>
          </a:prstGeom>
          <a:noFill/>
          <a:ln/>
        </p:spPr>
        <p:txBody>
          <a:bodyPr wrap="square" lIns="0" tIns="0" rIns="0" bIns="0" rtlCol="0" anchor="ctr"/>
          <a:lstStyle/>
          <a:p>
            <a:pPr marL="0" indent="0">
              <a:buNone/>
            </a:pPr>
            <a:r>
              <a:rPr lang="en-US" sz="1400" b="1" dirty="0">
                <a:solidFill>
                  <a:srgbClr val="1A1C20"/>
                </a:solidFill>
                <a:latin typeface="Calibri" pitchFamily="34" charset="0"/>
                <a:ea typeface="Calibri" pitchFamily="34" charset="-122"/>
                <a:cs typeface="Calibri" pitchFamily="34" charset="-120"/>
              </a:rPr>
              <a:t>The two mistakes are not equal</a:t>
            </a:r>
            <a:endParaRPr lang="en-US" sz="1400" dirty="0"/>
          </a:p>
        </p:txBody>
      </p:sp>
      <p:sp>
        <p:nvSpPr>
          <p:cNvPr id="10" name="Shape 8"/>
          <p:cNvSpPr/>
          <p:nvPr/>
        </p:nvSpPr>
        <p:spPr>
          <a:xfrm>
            <a:off x="548640" y="4480560"/>
            <a:ext cx="5440680" cy="1508760"/>
          </a:xfrm>
          <a:prstGeom prst="roundRect">
            <a:avLst>
              <a:gd name="adj" fmla="val 4848"/>
            </a:avLst>
          </a:prstGeom>
          <a:solidFill>
            <a:srgbClr val="FBEDEB"/>
          </a:solidFill>
          <a:ln w="12700">
            <a:solidFill>
              <a:srgbClr val="F0D5D1"/>
            </a:solidFill>
            <a:prstDash val="solid"/>
          </a:ln>
        </p:spPr>
        <p:txBody>
          <a:bodyPr/>
          <a:lstStyle/>
          <a:p>
            <a:endParaRPr lang="en-US"/>
          </a:p>
        </p:txBody>
      </p:sp>
      <p:sp>
        <p:nvSpPr>
          <p:cNvPr id="11" name="Text 9"/>
          <p:cNvSpPr txBox="1"/>
          <p:nvPr/>
        </p:nvSpPr>
        <p:spPr>
          <a:xfrm>
            <a:off x="822960" y="4645152"/>
            <a:ext cx="4937760" cy="292608"/>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Missed failure</a:t>
            </a:r>
            <a:endParaRPr lang="en-US" sz="1400" dirty="0"/>
          </a:p>
        </p:txBody>
      </p:sp>
      <p:sp>
        <p:nvSpPr>
          <p:cNvPr id="12" name="Text 10"/>
          <p:cNvSpPr txBox="1"/>
          <p:nvPr/>
        </p:nvSpPr>
        <p:spPr>
          <a:xfrm>
            <a:off x="822960" y="4983480"/>
            <a:ext cx="4937760" cy="822960"/>
          </a:xfrm>
          <a:prstGeom prst="rect">
            <a:avLst/>
          </a:prstGeom>
          <a:noFill/>
          <a:ln/>
        </p:spPr>
        <p:txBody>
          <a:bodyPr wrap="square" lIns="0" tIns="0" rIns="0" bIns="0" rtlCol="0" anchor="ctr"/>
          <a:lstStyle/>
          <a:p>
            <a:pPr marL="0" indent="0">
              <a:buNone/>
            </a:pPr>
            <a:r>
              <a:rPr lang="en-US" sz="1300" dirty="0">
                <a:solidFill>
                  <a:srgbClr val="1A1C20"/>
                </a:solidFill>
                <a:latin typeface="Calibri" pitchFamily="34" charset="0"/>
                <a:ea typeface="Calibri" pitchFamily="34" charset="-122"/>
                <a:cs typeface="Calibri" pitchFamily="34" charset="-120"/>
              </a:rPr>
              <a:t>Unplanned downtime, machine damage, emergency repair costs.</a:t>
            </a:r>
            <a:endParaRPr lang="en-US" sz="1300" dirty="0"/>
          </a:p>
        </p:txBody>
      </p:sp>
      <p:sp>
        <p:nvSpPr>
          <p:cNvPr id="13" name="Shape 11"/>
          <p:cNvSpPr/>
          <p:nvPr/>
        </p:nvSpPr>
        <p:spPr>
          <a:xfrm>
            <a:off x="6172200" y="4480560"/>
            <a:ext cx="5440680" cy="1508760"/>
          </a:xfrm>
          <a:prstGeom prst="roundRect">
            <a:avLst>
              <a:gd name="adj" fmla="val 4848"/>
            </a:avLst>
          </a:prstGeom>
          <a:solidFill>
            <a:srgbClr val="F4F5F7"/>
          </a:solidFill>
          <a:ln w="12700">
            <a:solidFill>
              <a:srgbClr val="E4E6EA"/>
            </a:solidFill>
            <a:prstDash val="solid"/>
          </a:ln>
        </p:spPr>
        <p:txBody>
          <a:bodyPr/>
          <a:lstStyle/>
          <a:p>
            <a:endParaRPr lang="en-US"/>
          </a:p>
        </p:txBody>
      </p:sp>
      <p:sp>
        <p:nvSpPr>
          <p:cNvPr id="14" name="Text 12"/>
          <p:cNvSpPr txBox="1"/>
          <p:nvPr/>
        </p:nvSpPr>
        <p:spPr>
          <a:xfrm>
            <a:off x="6446520" y="4645152"/>
            <a:ext cx="4937760" cy="292608"/>
          </a:xfrm>
          <a:prstGeom prst="rect">
            <a:avLst/>
          </a:prstGeom>
          <a:noFill/>
          <a:ln/>
        </p:spPr>
        <p:txBody>
          <a:bodyPr wrap="square" lIns="0" tIns="0" rIns="0" bIns="0" rtlCol="0" anchor="ctr"/>
          <a:lstStyle/>
          <a:p>
            <a:pPr marL="0" indent="0">
              <a:buNone/>
            </a:pPr>
            <a:r>
              <a:rPr lang="en-US" sz="1400" b="1" dirty="0">
                <a:solidFill>
                  <a:srgbClr val="5A6472"/>
                </a:solidFill>
                <a:latin typeface="Calibri" pitchFamily="34" charset="0"/>
                <a:ea typeface="Calibri" pitchFamily="34" charset="-122"/>
                <a:cs typeface="Calibri" pitchFamily="34" charset="-120"/>
              </a:rPr>
              <a:t>False alarm</a:t>
            </a:r>
            <a:endParaRPr lang="en-US" sz="1400" dirty="0"/>
          </a:p>
        </p:txBody>
      </p:sp>
      <p:sp>
        <p:nvSpPr>
          <p:cNvPr id="15" name="Text 13"/>
          <p:cNvSpPr txBox="1"/>
          <p:nvPr/>
        </p:nvSpPr>
        <p:spPr>
          <a:xfrm>
            <a:off x="6446520" y="4983480"/>
            <a:ext cx="4937760" cy="822960"/>
          </a:xfrm>
          <a:prstGeom prst="rect">
            <a:avLst/>
          </a:prstGeom>
          <a:noFill/>
          <a:ln/>
        </p:spPr>
        <p:txBody>
          <a:bodyPr wrap="square" lIns="0" tIns="0" rIns="0" bIns="0" rtlCol="0" anchor="ctr"/>
          <a:lstStyle/>
          <a:p>
            <a:pPr marL="0" indent="0">
              <a:buNone/>
            </a:pPr>
            <a:r>
              <a:rPr lang="en-US" sz="1300" dirty="0">
                <a:solidFill>
                  <a:srgbClr val="1A1C20"/>
                </a:solidFill>
                <a:latin typeface="Calibri" pitchFamily="34" charset="0"/>
                <a:ea typeface="Calibri" pitchFamily="34" charset="-122"/>
                <a:cs typeface="Calibri" pitchFamily="34" charset="-120"/>
              </a:rPr>
              <a:t>A technician inspects a healthy machine. Inconvenient — and comparatively cheap.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DATA &amp; LEAKAGE</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The most important decision was not a model choice</a:t>
            </a:r>
            <a:endParaRPr lang="en-US" sz="3200" dirty="0"/>
          </a:p>
        </p:txBody>
      </p:sp>
      <p:sp>
        <p:nvSpPr>
          <p:cNvPr id="4" name="Text 2"/>
          <p:cNvSpPr txBox="1"/>
          <p:nvPr/>
        </p:nvSpPr>
        <p:spPr>
          <a:xfrm>
            <a:off x="548640" y="1572768"/>
            <a:ext cx="11064240" cy="292608"/>
          </a:xfrm>
          <a:prstGeom prst="rect">
            <a:avLst/>
          </a:prstGeom>
          <a:noFill/>
          <a:ln/>
        </p:spPr>
        <p:txBody>
          <a:bodyPr wrap="square" lIns="0" tIns="0" rIns="0" bIns="0" rtlCol="0" anchor="ctr"/>
          <a:lstStyle/>
          <a:p>
            <a:pPr marL="0" indent="0">
              <a:buNone/>
            </a:pPr>
            <a:r>
              <a:rPr lang="en-US" sz="1500" dirty="0">
                <a:solidFill>
                  <a:srgbClr val="1A1C20"/>
                </a:solidFill>
                <a:latin typeface="Calibri" pitchFamily="34" charset="0"/>
                <a:ea typeface="Calibri" pitchFamily="34" charset="-122"/>
                <a:cs typeface="Calibri" pitchFamily="34" charset="-120"/>
              </a:rPr>
              <a:t>The dataset ships with five failure-mode flags: TWF, HDF, PWF, OSF, RNF.</a:t>
            </a:r>
            <a:endParaRPr lang="en-US" sz="1500" dirty="0"/>
          </a:p>
        </p:txBody>
      </p:sp>
      <p:sp>
        <p:nvSpPr>
          <p:cNvPr id="5" name="Shape 3"/>
          <p:cNvSpPr/>
          <p:nvPr/>
        </p:nvSpPr>
        <p:spPr>
          <a:xfrm>
            <a:off x="548640" y="2057400"/>
            <a:ext cx="5440680" cy="2286000"/>
          </a:xfrm>
          <a:prstGeom prst="roundRect">
            <a:avLst>
              <a:gd name="adj" fmla="val 4000"/>
            </a:avLst>
          </a:prstGeom>
          <a:solidFill>
            <a:srgbClr val="FBEDEB"/>
          </a:solidFill>
          <a:ln w="12700">
            <a:solidFill>
              <a:srgbClr val="F0D5D1"/>
            </a:solidFill>
            <a:prstDash val="solid"/>
          </a:ln>
        </p:spPr>
        <p:txBody>
          <a:bodyPr/>
          <a:lstStyle/>
          <a:p>
            <a:endParaRPr lang="en-US"/>
          </a:p>
        </p:txBody>
      </p:sp>
      <p:sp>
        <p:nvSpPr>
          <p:cNvPr id="6" name="Text 4"/>
          <p:cNvSpPr txBox="1"/>
          <p:nvPr/>
        </p:nvSpPr>
        <p:spPr>
          <a:xfrm>
            <a:off x="822960" y="2240280"/>
            <a:ext cx="4937760" cy="27432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Used as model inputs</a:t>
            </a:r>
            <a:endParaRPr lang="en-US" sz="1300" dirty="0"/>
          </a:p>
        </p:txBody>
      </p:sp>
      <p:sp>
        <p:nvSpPr>
          <p:cNvPr id="7" name="Text 5"/>
          <p:cNvSpPr txBox="1"/>
          <p:nvPr/>
        </p:nvSpPr>
        <p:spPr>
          <a:xfrm>
            <a:off x="822960" y="2560320"/>
            <a:ext cx="4937760" cy="685800"/>
          </a:xfrm>
          <a:prstGeom prst="rect">
            <a:avLst/>
          </a:prstGeom>
          <a:noFill/>
          <a:ln/>
        </p:spPr>
        <p:txBody>
          <a:bodyPr wrap="square" lIns="0" tIns="0" rIns="0" bIns="0" rtlCol="0" anchor="ctr"/>
          <a:lstStyle/>
          <a:p>
            <a:pPr marL="0" indent="0">
              <a:buNone/>
            </a:pPr>
            <a:r>
              <a:rPr lang="en-US" sz="4200" b="1" dirty="0">
                <a:solidFill>
                  <a:srgbClr val="C0392B"/>
                </a:solidFill>
                <a:latin typeface="Cambria" pitchFamily="34" charset="0"/>
                <a:ea typeface="Cambria" pitchFamily="34" charset="-122"/>
                <a:cs typeface="Cambria" pitchFamily="34" charset="-120"/>
              </a:rPr>
              <a:t>97%</a:t>
            </a:r>
            <a:endParaRPr lang="en-US" sz="4200" dirty="0"/>
          </a:p>
        </p:txBody>
      </p:sp>
      <p:sp>
        <p:nvSpPr>
          <p:cNvPr id="8" name="Text 6"/>
          <p:cNvSpPr txBox="1"/>
          <p:nvPr/>
        </p:nvSpPr>
        <p:spPr>
          <a:xfrm>
            <a:off x="822960" y="3291840"/>
            <a:ext cx="4937760" cy="868680"/>
          </a:xfrm>
          <a:prstGeom prst="rect">
            <a:avLst/>
          </a:prstGeom>
          <a:noFill/>
          <a:ln/>
        </p:spPr>
        <p:txBody>
          <a:bodyPr wrap="square" lIns="0" tIns="0" rIns="0" bIns="0" rtlCol="0" anchor="ctr"/>
          <a:lstStyle/>
          <a:p>
            <a:pPr marL="0" indent="0">
              <a:buNone/>
            </a:pPr>
            <a:r>
              <a:rPr lang="en-US" sz="1250" dirty="0">
                <a:solidFill>
                  <a:srgbClr val="1A1C20"/>
                </a:solidFill>
                <a:latin typeface="Calibri" pitchFamily="34" charset="0"/>
                <a:ea typeface="Calibri" pitchFamily="34" charset="-122"/>
                <a:cs typeface="Calibri" pitchFamily="34" charset="-120"/>
              </a:rPr>
              <a:t>recall — and completely meaningless.</a:t>
            </a:r>
            <a:endParaRPr lang="en-US" sz="1250" dirty="0"/>
          </a:p>
          <a:p>
            <a:pPr marL="0" indent="0">
              <a:buNone/>
            </a:pPr>
            <a:r>
              <a:rPr lang="en-US" sz="1250" dirty="0">
                <a:solidFill>
                  <a:srgbClr val="1A1C20"/>
                </a:solidFill>
                <a:latin typeface="Calibri" pitchFamily="34" charset="0"/>
                <a:ea typeface="Calibri" pitchFamily="34" charset="-122"/>
                <a:cs typeface="Calibri" pitchFamily="34" charset="-120"/>
              </a:rPr>
              <a:t>"Machine failure" is the union of those</a:t>
            </a:r>
            <a:endParaRPr lang="en-US" sz="1250" dirty="0"/>
          </a:p>
          <a:p>
            <a:pPr marL="0" indent="0">
              <a:buNone/>
            </a:pPr>
            <a:r>
              <a:rPr lang="en-US" sz="1250" dirty="0">
                <a:solidFill>
                  <a:srgbClr val="1A1C20"/>
                </a:solidFill>
                <a:latin typeface="Calibri" pitchFamily="34" charset="0"/>
                <a:ea typeface="Calibri" pitchFamily="34" charset="-122"/>
                <a:cs typeface="Calibri" pitchFamily="34" charset="-120"/>
              </a:rPr>
              <a:t>five flags. The model was handed the answer.</a:t>
            </a:r>
            <a:endParaRPr lang="en-US" sz="1250" dirty="0"/>
          </a:p>
        </p:txBody>
      </p:sp>
      <p:sp>
        <p:nvSpPr>
          <p:cNvPr id="9" name="Shape 7"/>
          <p:cNvSpPr/>
          <p:nvPr/>
        </p:nvSpPr>
        <p:spPr>
          <a:xfrm>
            <a:off x="6172200" y="2057400"/>
            <a:ext cx="5440680" cy="2286000"/>
          </a:xfrm>
          <a:prstGeom prst="roundRect">
            <a:avLst>
              <a:gd name="adj" fmla="val 4000"/>
            </a:avLst>
          </a:prstGeom>
          <a:solidFill>
            <a:srgbClr val="E9F4F0"/>
          </a:solidFill>
          <a:ln w="12700">
            <a:solidFill>
              <a:srgbClr val="CFE6DE"/>
            </a:solidFill>
            <a:prstDash val="solid"/>
          </a:ln>
        </p:spPr>
        <p:txBody>
          <a:bodyPr/>
          <a:lstStyle/>
          <a:p>
            <a:endParaRPr lang="en-US"/>
          </a:p>
        </p:txBody>
      </p:sp>
      <p:sp>
        <p:nvSpPr>
          <p:cNvPr id="10" name="Text 8"/>
          <p:cNvSpPr txBox="1"/>
          <p:nvPr/>
        </p:nvSpPr>
        <p:spPr>
          <a:xfrm>
            <a:off x="6446520" y="2240280"/>
            <a:ext cx="4937760" cy="274320"/>
          </a:xfrm>
          <a:prstGeom prst="rect">
            <a:avLst/>
          </a:prstGeom>
          <a:noFill/>
          <a:ln/>
        </p:spPr>
        <p:txBody>
          <a:bodyPr wrap="square" lIns="0" tIns="0" rIns="0" bIns="0" rtlCol="0" anchor="ctr"/>
          <a:lstStyle/>
          <a:p>
            <a:pPr marL="0" indent="0">
              <a:buNone/>
            </a:pPr>
            <a:r>
              <a:rPr lang="en-US" sz="1300" b="1" dirty="0">
                <a:solidFill>
                  <a:srgbClr val="2E8B6E"/>
                </a:solidFill>
                <a:latin typeface="Calibri" pitchFamily="34" charset="0"/>
                <a:ea typeface="Calibri" pitchFamily="34" charset="-122"/>
                <a:cs typeface="Calibri" pitchFamily="34" charset="-120"/>
              </a:rPr>
              <a:t>Excluded — enforced in code</a:t>
            </a:r>
            <a:endParaRPr lang="en-US" sz="1300" dirty="0"/>
          </a:p>
        </p:txBody>
      </p:sp>
      <p:sp>
        <p:nvSpPr>
          <p:cNvPr id="11" name="Text 9"/>
          <p:cNvSpPr txBox="1"/>
          <p:nvPr/>
        </p:nvSpPr>
        <p:spPr>
          <a:xfrm>
            <a:off x="6446520" y="2560320"/>
            <a:ext cx="4937760" cy="685800"/>
          </a:xfrm>
          <a:prstGeom prst="rect">
            <a:avLst/>
          </a:prstGeom>
          <a:noFill/>
          <a:ln/>
        </p:spPr>
        <p:txBody>
          <a:bodyPr wrap="square" lIns="0" tIns="0" rIns="0" bIns="0" rtlCol="0" anchor="ctr"/>
          <a:lstStyle/>
          <a:p>
            <a:pPr marL="0" indent="0">
              <a:buNone/>
            </a:pPr>
            <a:r>
              <a:rPr lang="en-US" sz="4200" b="1" dirty="0">
                <a:solidFill>
                  <a:srgbClr val="2E8B6E"/>
                </a:solidFill>
                <a:latin typeface="Cambria" pitchFamily="34" charset="0"/>
                <a:ea typeface="Cambria" pitchFamily="34" charset="-122"/>
                <a:cs typeface="Cambria" pitchFamily="34" charset="-120"/>
              </a:rPr>
              <a:t>9 features</a:t>
            </a:r>
            <a:endParaRPr lang="en-US" sz="4200" dirty="0"/>
          </a:p>
        </p:txBody>
      </p:sp>
      <p:sp>
        <p:nvSpPr>
          <p:cNvPr id="12" name="Text 10"/>
          <p:cNvSpPr txBox="1"/>
          <p:nvPr/>
        </p:nvSpPr>
        <p:spPr>
          <a:xfrm>
            <a:off x="6446520" y="3291840"/>
            <a:ext cx="4937760" cy="868680"/>
          </a:xfrm>
          <a:prstGeom prst="rect">
            <a:avLst/>
          </a:prstGeom>
          <a:noFill/>
          <a:ln/>
        </p:spPr>
        <p:txBody>
          <a:bodyPr wrap="square" lIns="0" tIns="0" rIns="0" bIns="0" rtlCol="0" anchor="ctr"/>
          <a:lstStyle/>
          <a:p>
            <a:pPr marL="0" indent="0">
              <a:buNone/>
            </a:pPr>
            <a:r>
              <a:rPr lang="en-US" sz="1250" dirty="0">
                <a:solidFill>
                  <a:srgbClr val="1A1C20"/>
                </a:solidFill>
                <a:latin typeface="Calibri" pitchFamily="34" charset="0"/>
                <a:ea typeface="Calibri" pitchFamily="34" charset="-122"/>
                <a:cs typeface="Calibri" pitchFamily="34" charset="-120"/>
              </a:rPr>
              <a:t>One function defines the feature list.</a:t>
            </a:r>
            <a:endParaRPr lang="en-US" sz="1250" dirty="0"/>
          </a:p>
          <a:p>
            <a:pPr marL="0" indent="0">
              <a:buNone/>
            </a:pPr>
            <a:r>
              <a:rPr lang="en-US" sz="1250" dirty="0">
                <a:solidFill>
                  <a:srgbClr val="1A1C20"/>
                </a:solidFill>
                <a:latin typeface="Calibri" pitchFamily="34" charset="0"/>
                <a:ea typeface="Calibri" pitchFamily="34" charset="-122"/>
                <a:cs typeface="Calibri" pitchFamily="34" charset="-120"/>
              </a:rPr>
              <a:t>Both the ML and DL tracks call it, and a</a:t>
            </a:r>
            <a:endParaRPr lang="en-US" sz="1250" dirty="0"/>
          </a:p>
          <a:p>
            <a:pPr marL="0" indent="0">
              <a:buNone/>
            </a:pPr>
            <a:r>
              <a:rPr lang="en-US" sz="1250" dirty="0">
                <a:solidFill>
                  <a:srgbClr val="1A1C20"/>
                </a:solidFill>
                <a:latin typeface="Calibri" pitchFamily="34" charset="0"/>
                <a:ea typeface="Calibri" pitchFamily="34" charset="-122"/>
                <a:cs typeface="Calibri" pitchFamily="34" charset="-120"/>
              </a:rPr>
              <a:t>test asserts the flags never appear.</a:t>
            </a:r>
            <a:endParaRPr lang="en-US" sz="1250" dirty="0"/>
          </a:p>
        </p:txBody>
      </p:sp>
      <p:sp>
        <p:nvSpPr>
          <p:cNvPr id="13" name="Shape 11"/>
          <p:cNvSpPr/>
          <p:nvPr/>
        </p:nvSpPr>
        <p:spPr>
          <a:xfrm>
            <a:off x="548640" y="4663440"/>
            <a:ext cx="11064240" cy="1234440"/>
          </a:xfrm>
          <a:prstGeom prst="roundRect">
            <a:avLst>
              <a:gd name="adj" fmla="val 5926"/>
            </a:avLst>
          </a:prstGeom>
          <a:solidFill>
            <a:srgbClr val="2B2D33"/>
          </a:solidFill>
          <a:ln/>
        </p:spPr>
        <p:txBody>
          <a:bodyPr/>
          <a:lstStyle/>
          <a:p>
            <a:endParaRPr lang="en-US"/>
          </a:p>
        </p:txBody>
      </p:sp>
      <p:sp>
        <p:nvSpPr>
          <p:cNvPr id="14" name="Text 12"/>
          <p:cNvSpPr txBox="1"/>
          <p:nvPr/>
        </p:nvSpPr>
        <p:spPr>
          <a:xfrm>
            <a:off x="914400" y="4956048"/>
            <a:ext cx="10332720" cy="68580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Cross-validation would never have caught this — the leakage was in every fold. It took reading what the columns meant, not what they correlated with.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FEATURE ENGINEERING</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Four features, each for a physical reason</a:t>
            </a:r>
            <a:endParaRPr lang="en-US" sz="3200" dirty="0"/>
          </a:p>
        </p:txBody>
      </p:sp>
      <p:sp>
        <p:nvSpPr>
          <p:cNvPr id="4" name="Shape 2"/>
          <p:cNvSpPr/>
          <p:nvPr/>
        </p:nvSpPr>
        <p:spPr>
          <a:xfrm>
            <a:off x="548640" y="1627632"/>
            <a:ext cx="5943600" cy="841248"/>
          </a:xfrm>
          <a:prstGeom prst="roundRect">
            <a:avLst>
              <a:gd name="adj" fmla="val 6522"/>
            </a:avLst>
          </a:prstGeom>
          <a:solidFill>
            <a:srgbClr val="F4F5F7"/>
          </a:solidFill>
          <a:ln w="12700">
            <a:solidFill>
              <a:srgbClr val="E4E6EA"/>
            </a:solidFill>
            <a:prstDash val="solid"/>
          </a:ln>
        </p:spPr>
        <p:txBody>
          <a:bodyPr/>
          <a:lstStyle/>
          <a:p>
            <a:endParaRPr lang="en-US"/>
          </a:p>
        </p:txBody>
      </p:sp>
      <p:sp>
        <p:nvSpPr>
          <p:cNvPr id="5" name="Text 3"/>
          <p:cNvSpPr txBox="1"/>
          <p:nvPr/>
        </p:nvSpPr>
        <p:spPr>
          <a:xfrm>
            <a:off x="777240" y="1728216"/>
            <a:ext cx="2103120" cy="274320"/>
          </a:xfrm>
          <a:prstGeom prst="rect">
            <a:avLst/>
          </a:prstGeom>
          <a:noFill/>
          <a:ln/>
        </p:spPr>
        <p:txBody>
          <a:bodyPr wrap="square" lIns="0" tIns="0" rIns="0" bIns="0" rtlCol="0" anchor="ctr"/>
          <a:lstStyle/>
          <a:p>
            <a:pPr marL="0" indent="0">
              <a:buNone/>
            </a:pPr>
            <a:r>
              <a:rPr lang="en-US" sz="1300" b="1" dirty="0">
                <a:solidFill>
                  <a:srgbClr val="1A1C20"/>
                </a:solidFill>
                <a:latin typeface="Calibri" pitchFamily="34" charset="0"/>
                <a:ea typeface="Calibri" pitchFamily="34" charset="-122"/>
                <a:cs typeface="Calibri" pitchFamily="34" charset="-120"/>
              </a:rPr>
              <a:t>Temp difference</a:t>
            </a:r>
            <a:endParaRPr lang="en-US" sz="1300" dirty="0"/>
          </a:p>
        </p:txBody>
      </p:sp>
      <p:sp>
        <p:nvSpPr>
          <p:cNvPr id="6" name="Text 4"/>
          <p:cNvSpPr txBox="1"/>
          <p:nvPr/>
        </p:nvSpPr>
        <p:spPr>
          <a:xfrm>
            <a:off x="777240" y="2029968"/>
            <a:ext cx="2286000" cy="274320"/>
          </a:xfrm>
          <a:prstGeom prst="rect">
            <a:avLst/>
          </a:prstGeom>
          <a:noFill/>
          <a:ln/>
        </p:spPr>
        <p:txBody>
          <a:bodyPr wrap="square" lIns="0" tIns="0" rIns="0" bIns="0" rtlCol="0" anchor="ctr"/>
          <a:lstStyle/>
          <a:p>
            <a:pPr marL="0" indent="0">
              <a:buNone/>
            </a:pPr>
            <a:r>
              <a:rPr lang="en-US" sz="1050" dirty="0">
                <a:solidFill>
                  <a:srgbClr val="E8A33D"/>
                </a:solidFill>
                <a:latin typeface="Courier New" pitchFamily="34" charset="0"/>
                <a:ea typeface="Courier New" pitchFamily="34" charset="-122"/>
                <a:cs typeface="Courier New" pitchFamily="34" charset="-120"/>
              </a:rPr>
              <a:t>Process temp − Air temp</a:t>
            </a:r>
            <a:endParaRPr lang="en-US" sz="1050" dirty="0"/>
          </a:p>
        </p:txBody>
      </p:sp>
      <p:sp>
        <p:nvSpPr>
          <p:cNvPr id="7" name="Text 5"/>
          <p:cNvSpPr txBox="1"/>
          <p:nvPr/>
        </p:nvSpPr>
        <p:spPr>
          <a:xfrm>
            <a:off x="3246120" y="1847088"/>
            <a:ext cx="3063240" cy="45720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Running hot vs ambient = poor heat dissipation</a:t>
            </a:r>
            <a:endParaRPr lang="en-US" sz="1150" dirty="0"/>
          </a:p>
        </p:txBody>
      </p:sp>
      <p:sp>
        <p:nvSpPr>
          <p:cNvPr id="8" name="Shape 6"/>
          <p:cNvSpPr/>
          <p:nvPr/>
        </p:nvSpPr>
        <p:spPr>
          <a:xfrm>
            <a:off x="548640" y="2560320"/>
            <a:ext cx="5943600" cy="841248"/>
          </a:xfrm>
          <a:prstGeom prst="roundRect">
            <a:avLst>
              <a:gd name="adj" fmla="val 6522"/>
            </a:avLst>
          </a:prstGeom>
          <a:solidFill>
            <a:srgbClr val="FFFFFF"/>
          </a:solidFill>
          <a:ln w="12700">
            <a:solidFill>
              <a:srgbClr val="E4E6EA"/>
            </a:solidFill>
            <a:prstDash val="solid"/>
          </a:ln>
        </p:spPr>
        <p:txBody>
          <a:bodyPr/>
          <a:lstStyle/>
          <a:p>
            <a:endParaRPr lang="en-US"/>
          </a:p>
        </p:txBody>
      </p:sp>
      <p:sp>
        <p:nvSpPr>
          <p:cNvPr id="9" name="Text 7"/>
          <p:cNvSpPr txBox="1"/>
          <p:nvPr/>
        </p:nvSpPr>
        <p:spPr>
          <a:xfrm>
            <a:off x="777240" y="2660904"/>
            <a:ext cx="2103120" cy="274320"/>
          </a:xfrm>
          <a:prstGeom prst="rect">
            <a:avLst/>
          </a:prstGeom>
          <a:noFill/>
          <a:ln/>
        </p:spPr>
        <p:txBody>
          <a:bodyPr wrap="square" lIns="0" tIns="0" rIns="0" bIns="0" rtlCol="0" anchor="ctr"/>
          <a:lstStyle/>
          <a:p>
            <a:pPr marL="0" indent="0">
              <a:buNone/>
            </a:pPr>
            <a:r>
              <a:rPr lang="en-US" sz="1300" b="1" dirty="0">
                <a:solidFill>
                  <a:srgbClr val="1A1C20"/>
                </a:solidFill>
                <a:latin typeface="Calibri" pitchFamily="34" charset="0"/>
                <a:ea typeface="Calibri" pitchFamily="34" charset="-122"/>
                <a:cs typeface="Calibri" pitchFamily="34" charset="-120"/>
              </a:rPr>
              <a:t>Mechanical power</a:t>
            </a:r>
            <a:endParaRPr lang="en-US" sz="1300" dirty="0"/>
          </a:p>
        </p:txBody>
      </p:sp>
      <p:sp>
        <p:nvSpPr>
          <p:cNvPr id="10" name="Text 8"/>
          <p:cNvSpPr txBox="1"/>
          <p:nvPr/>
        </p:nvSpPr>
        <p:spPr>
          <a:xfrm>
            <a:off x="777240" y="2962656"/>
            <a:ext cx="2286000" cy="274320"/>
          </a:xfrm>
          <a:prstGeom prst="rect">
            <a:avLst/>
          </a:prstGeom>
          <a:noFill/>
          <a:ln/>
        </p:spPr>
        <p:txBody>
          <a:bodyPr wrap="square" lIns="0" tIns="0" rIns="0" bIns="0" rtlCol="0" anchor="ctr"/>
          <a:lstStyle/>
          <a:p>
            <a:pPr marL="0" indent="0">
              <a:buNone/>
            </a:pPr>
            <a:r>
              <a:rPr lang="en-US" sz="1050" dirty="0">
                <a:solidFill>
                  <a:srgbClr val="E8A33D"/>
                </a:solidFill>
                <a:latin typeface="Courier New" pitchFamily="34" charset="0"/>
                <a:ea typeface="Courier New" pitchFamily="34" charset="-122"/>
                <a:cs typeface="Courier New" pitchFamily="34" charset="-120"/>
              </a:rPr>
              <a:t>Torque × (rpm × 2π / 60)</a:t>
            </a:r>
            <a:endParaRPr lang="en-US" sz="1050" dirty="0"/>
          </a:p>
        </p:txBody>
      </p:sp>
      <p:sp>
        <p:nvSpPr>
          <p:cNvPr id="11" name="Text 9"/>
          <p:cNvSpPr txBox="1"/>
          <p:nvPr/>
        </p:nvSpPr>
        <p:spPr>
          <a:xfrm>
            <a:off x="3246120" y="2779776"/>
            <a:ext cx="3063240" cy="45720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The quantity that actually drives wear and heat</a:t>
            </a:r>
            <a:endParaRPr lang="en-US" sz="1150" dirty="0"/>
          </a:p>
        </p:txBody>
      </p:sp>
      <p:sp>
        <p:nvSpPr>
          <p:cNvPr id="12" name="Shape 10"/>
          <p:cNvSpPr/>
          <p:nvPr/>
        </p:nvSpPr>
        <p:spPr>
          <a:xfrm>
            <a:off x="548640" y="3493008"/>
            <a:ext cx="5943600" cy="841248"/>
          </a:xfrm>
          <a:prstGeom prst="roundRect">
            <a:avLst>
              <a:gd name="adj" fmla="val 6522"/>
            </a:avLst>
          </a:prstGeom>
          <a:solidFill>
            <a:srgbClr val="F4F5F7"/>
          </a:solidFill>
          <a:ln w="12700">
            <a:solidFill>
              <a:srgbClr val="E4E6EA"/>
            </a:solidFill>
            <a:prstDash val="solid"/>
          </a:ln>
        </p:spPr>
        <p:txBody>
          <a:bodyPr/>
          <a:lstStyle/>
          <a:p>
            <a:endParaRPr lang="en-US"/>
          </a:p>
        </p:txBody>
      </p:sp>
      <p:sp>
        <p:nvSpPr>
          <p:cNvPr id="13" name="Text 11"/>
          <p:cNvSpPr txBox="1"/>
          <p:nvPr/>
        </p:nvSpPr>
        <p:spPr>
          <a:xfrm>
            <a:off x="777240" y="3593592"/>
            <a:ext cx="2103120" cy="274320"/>
          </a:xfrm>
          <a:prstGeom prst="rect">
            <a:avLst/>
          </a:prstGeom>
          <a:noFill/>
          <a:ln/>
        </p:spPr>
        <p:txBody>
          <a:bodyPr wrap="square" lIns="0" tIns="0" rIns="0" bIns="0" rtlCol="0" anchor="ctr"/>
          <a:lstStyle/>
          <a:p>
            <a:pPr marL="0" indent="0">
              <a:buNone/>
            </a:pPr>
            <a:r>
              <a:rPr lang="en-US" sz="1300" b="1" dirty="0">
                <a:solidFill>
                  <a:srgbClr val="1A1C20"/>
                </a:solidFill>
                <a:latin typeface="Calibri" pitchFamily="34" charset="0"/>
                <a:ea typeface="Calibri" pitchFamily="34" charset="-122"/>
                <a:cs typeface="Calibri" pitchFamily="34" charset="-120"/>
              </a:rPr>
              <a:t>Wear × Torque</a:t>
            </a:r>
            <a:endParaRPr lang="en-US" sz="1300" dirty="0"/>
          </a:p>
        </p:txBody>
      </p:sp>
      <p:sp>
        <p:nvSpPr>
          <p:cNvPr id="14" name="Text 12"/>
          <p:cNvSpPr txBox="1"/>
          <p:nvPr/>
        </p:nvSpPr>
        <p:spPr>
          <a:xfrm>
            <a:off x="777240" y="3895344"/>
            <a:ext cx="2286000" cy="274320"/>
          </a:xfrm>
          <a:prstGeom prst="rect">
            <a:avLst/>
          </a:prstGeom>
          <a:noFill/>
          <a:ln/>
        </p:spPr>
        <p:txBody>
          <a:bodyPr wrap="square" lIns="0" tIns="0" rIns="0" bIns="0" rtlCol="0" anchor="ctr"/>
          <a:lstStyle/>
          <a:p>
            <a:pPr marL="0" indent="0">
              <a:buNone/>
            </a:pPr>
            <a:r>
              <a:rPr lang="en-US" sz="1050" dirty="0">
                <a:solidFill>
                  <a:srgbClr val="E8A33D"/>
                </a:solidFill>
                <a:latin typeface="Courier New" pitchFamily="34" charset="0"/>
                <a:ea typeface="Courier New" pitchFamily="34" charset="-122"/>
                <a:cs typeface="Courier New" pitchFamily="34" charset="-120"/>
              </a:rPr>
              <a:t>Tool wear × Torque</a:t>
            </a:r>
            <a:endParaRPr lang="en-US" sz="1050" dirty="0"/>
          </a:p>
        </p:txBody>
      </p:sp>
      <p:sp>
        <p:nvSpPr>
          <p:cNvPr id="15" name="Text 13"/>
          <p:cNvSpPr txBox="1"/>
          <p:nvPr/>
        </p:nvSpPr>
        <p:spPr>
          <a:xfrm>
            <a:off x="3246120" y="3712464"/>
            <a:ext cx="3063240" cy="45720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A worn tool under load is riskier than either alone</a:t>
            </a:r>
            <a:endParaRPr lang="en-US" sz="1150" dirty="0"/>
          </a:p>
        </p:txBody>
      </p:sp>
      <p:sp>
        <p:nvSpPr>
          <p:cNvPr id="16" name="Shape 14"/>
          <p:cNvSpPr/>
          <p:nvPr/>
        </p:nvSpPr>
        <p:spPr>
          <a:xfrm>
            <a:off x="548640" y="4425696"/>
            <a:ext cx="5943600" cy="841248"/>
          </a:xfrm>
          <a:prstGeom prst="roundRect">
            <a:avLst>
              <a:gd name="adj" fmla="val 6522"/>
            </a:avLst>
          </a:prstGeom>
          <a:solidFill>
            <a:srgbClr val="FFFFFF"/>
          </a:solidFill>
          <a:ln w="12700">
            <a:solidFill>
              <a:srgbClr val="E4E6EA"/>
            </a:solidFill>
            <a:prstDash val="solid"/>
          </a:ln>
        </p:spPr>
        <p:txBody>
          <a:bodyPr/>
          <a:lstStyle/>
          <a:p>
            <a:endParaRPr lang="en-US"/>
          </a:p>
        </p:txBody>
      </p:sp>
      <p:sp>
        <p:nvSpPr>
          <p:cNvPr id="17" name="Text 15"/>
          <p:cNvSpPr txBox="1"/>
          <p:nvPr/>
        </p:nvSpPr>
        <p:spPr>
          <a:xfrm>
            <a:off x="777240" y="4526280"/>
            <a:ext cx="2103120" cy="274320"/>
          </a:xfrm>
          <a:prstGeom prst="rect">
            <a:avLst/>
          </a:prstGeom>
          <a:noFill/>
          <a:ln/>
        </p:spPr>
        <p:txBody>
          <a:bodyPr wrap="square" lIns="0" tIns="0" rIns="0" bIns="0" rtlCol="0" anchor="ctr"/>
          <a:lstStyle/>
          <a:p>
            <a:pPr marL="0" indent="0">
              <a:buNone/>
            </a:pPr>
            <a:r>
              <a:rPr lang="en-US" sz="1300" b="1" dirty="0">
                <a:solidFill>
                  <a:srgbClr val="1A1C20"/>
                </a:solidFill>
                <a:latin typeface="Calibri" pitchFamily="34" charset="0"/>
                <a:ea typeface="Calibri" pitchFamily="34" charset="-122"/>
                <a:cs typeface="Calibri" pitchFamily="34" charset="-120"/>
              </a:rPr>
              <a:t>Quality grade</a:t>
            </a:r>
            <a:endParaRPr lang="en-US" sz="1300" dirty="0"/>
          </a:p>
        </p:txBody>
      </p:sp>
      <p:sp>
        <p:nvSpPr>
          <p:cNvPr id="18" name="Text 16"/>
          <p:cNvSpPr txBox="1"/>
          <p:nvPr/>
        </p:nvSpPr>
        <p:spPr>
          <a:xfrm>
            <a:off x="777240" y="4828032"/>
            <a:ext cx="2286000" cy="274320"/>
          </a:xfrm>
          <a:prstGeom prst="rect">
            <a:avLst/>
          </a:prstGeom>
          <a:noFill/>
          <a:ln/>
        </p:spPr>
        <p:txBody>
          <a:bodyPr wrap="square" lIns="0" tIns="0" rIns="0" bIns="0" rtlCol="0" anchor="ctr"/>
          <a:lstStyle/>
          <a:p>
            <a:pPr marL="0" indent="0">
              <a:buNone/>
            </a:pPr>
            <a:r>
              <a:rPr lang="en-US" sz="1050" dirty="0">
                <a:solidFill>
                  <a:srgbClr val="E8A33D"/>
                </a:solidFill>
                <a:latin typeface="Courier New" pitchFamily="34" charset="0"/>
                <a:ea typeface="Courier New" pitchFamily="34" charset="-122"/>
                <a:cs typeface="Courier New" pitchFamily="34" charset="-120"/>
              </a:rPr>
              <a:t>L→0, M→1, H→2</a:t>
            </a:r>
            <a:endParaRPr lang="en-US" sz="1050" dirty="0"/>
          </a:p>
        </p:txBody>
      </p:sp>
      <p:sp>
        <p:nvSpPr>
          <p:cNvPr id="19" name="Text 17"/>
          <p:cNvSpPr txBox="1"/>
          <p:nvPr/>
        </p:nvSpPr>
        <p:spPr>
          <a:xfrm>
            <a:off x="3246120" y="4645152"/>
            <a:ext cx="3063240" cy="45720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Ordinal encoding preserving real ordering</a:t>
            </a:r>
            <a:endParaRPr lang="en-US" sz="1150" dirty="0"/>
          </a:p>
        </p:txBody>
      </p:sp>
      <p:pic>
        <p:nvPicPr>
          <p:cNvPr id="20" name="Image 0" descr="/home/claude/report_assets/engineered_features.png"/>
          <p:cNvPicPr>
            <a:picLocks noChangeAspect="1"/>
          </p:cNvPicPr>
          <p:nvPr/>
        </p:nvPicPr>
        <p:blipFill>
          <a:blip r:embed="rId3"/>
          <a:stretch>
            <a:fillRect/>
          </a:stretch>
        </p:blipFill>
        <p:spPr>
          <a:xfrm>
            <a:off x="6720840" y="1965960"/>
            <a:ext cx="4937760" cy="1517904"/>
          </a:xfrm>
          <a:prstGeom prst="rect">
            <a:avLst/>
          </a:prstGeom>
        </p:spPr>
      </p:pic>
      <p:sp>
        <p:nvSpPr>
          <p:cNvPr id="21" name="Text 18"/>
          <p:cNvSpPr txBox="1"/>
          <p:nvPr/>
        </p:nvSpPr>
        <p:spPr>
          <a:xfrm>
            <a:off x="6720840" y="3611880"/>
            <a:ext cx="4937760" cy="640080"/>
          </a:xfrm>
          <a:prstGeom prst="rect">
            <a:avLst/>
          </a:prstGeom>
          <a:noFill/>
          <a:ln/>
        </p:spPr>
        <p:txBody>
          <a:bodyPr wrap="square" lIns="0" tIns="0" rIns="0" bIns="0" rtlCol="0" anchor="ctr"/>
          <a:lstStyle/>
          <a:p>
            <a:pPr marL="0" indent="0">
              <a:buNone/>
            </a:pPr>
            <a:r>
              <a:rPr lang="en-US" sz="1150" i="1" dirty="0">
                <a:solidFill>
                  <a:srgbClr val="5A6472"/>
                </a:solidFill>
                <a:latin typeface="Calibri" pitchFamily="34" charset="0"/>
                <a:ea typeface="Calibri" pitchFamily="34" charset="-122"/>
                <a:cs typeface="Calibri" pitchFamily="34" charset="-120"/>
              </a:rPr>
              <a:t>Engineered features separate failures (red) from normal operation (blue) far better than any single raw sensor reading.</a:t>
            </a:r>
            <a:endParaRPr lang="en-US" sz="1150" dirty="0"/>
          </a:p>
        </p:txBody>
      </p:sp>
      <p:sp>
        <p:nvSpPr>
          <p:cNvPr id="22" name="Shape 19"/>
          <p:cNvSpPr/>
          <p:nvPr/>
        </p:nvSpPr>
        <p:spPr>
          <a:xfrm>
            <a:off x="6720840" y="4434840"/>
            <a:ext cx="4937760" cy="914400"/>
          </a:xfrm>
          <a:prstGeom prst="roundRect">
            <a:avLst>
              <a:gd name="adj" fmla="val 8000"/>
            </a:avLst>
          </a:prstGeom>
          <a:solidFill>
            <a:srgbClr val="F4F5F7"/>
          </a:solidFill>
          <a:ln w="12700">
            <a:solidFill>
              <a:srgbClr val="E4E6EA"/>
            </a:solidFill>
            <a:prstDash val="solid"/>
          </a:ln>
        </p:spPr>
        <p:txBody>
          <a:bodyPr/>
          <a:lstStyle/>
          <a:p>
            <a:endParaRPr lang="en-US"/>
          </a:p>
        </p:txBody>
      </p:sp>
      <p:sp>
        <p:nvSpPr>
          <p:cNvPr id="23" name="Text 20"/>
          <p:cNvSpPr txBox="1"/>
          <p:nvPr/>
        </p:nvSpPr>
        <p:spPr>
          <a:xfrm>
            <a:off x="6949440" y="4617720"/>
            <a:ext cx="4480560" cy="594360"/>
          </a:xfrm>
          <a:prstGeom prst="rect">
            <a:avLst/>
          </a:prstGeom>
          <a:noFill/>
          <a:ln/>
        </p:spPr>
        <p:txBody>
          <a:bodyPr wrap="square" lIns="0" tIns="0" rIns="0" bIns="0" rtlCol="0" anchor="ctr"/>
          <a:lstStyle/>
          <a:p>
            <a:pPr marL="0" indent="0">
              <a:buNone/>
            </a:pPr>
            <a:r>
              <a:rPr lang="en-US" sz="1250" dirty="0">
                <a:solidFill>
                  <a:srgbClr val="1A1C20"/>
                </a:solidFill>
                <a:latin typeface="Calibri" pitchFamily="34" charset="0"/>
                <a:ea typeface="Calibri" pitchFamily="34" charset="-122"/>
                <a:cs typeface="Calibri" pitchFamily="34" charset="-120"/>
              </a:rPr>
              <a:t>No single raw reading correlates strongly with failure — the signal lives in the interactions.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97AF109-2AC9-6B32-C63D-72FC597D80CB}"/>
              </a:ext>
            </a:extLst>
          </p:cNvPr>
          <p:cNvSpPr txBox="1"/>
          <p:nvPr/>
        </p:nvSpPr>
        <p:spPr>
          <a:xfrm>
            <a:off x="5692962" y="538643"/>
            <a:ext cx="2818428" cy="354584"/>
          </a:xfrm>
          <a:prstGeom prst="rect">
            <a:avLst/>
          </a:prstGeom>
          <a:noFill/>
          <a:ln/>
        </p:spPr>
        <p:txBody>
          <a:bodyPr wrap="square" lIns="0" tIns="0" rIns="0" bIns="0" rtlCol="0" anchor="ctr"/>
          <a:lstStyle/>
          <a:p>
            <a:pPr marL="0" indent="0">
              <a:buNone/>
            </a:pPr>
            <a:r>
              <a:rPr lang="en-US" sz="2400" b="1" u="sng" kern="0" spc="200" dirty="0">
                <a:solidFill>
                  <a:srgbClr val="E8A33D"/>
                </a:solidFill>
                <a:latin typeface="Calibri" pitchFamily="34" charset="0"/>
                <a:ea typeface="Calibri" pitchFamily="34" charset="-122"/>
                <a:cs typeface="Calibri" pitchFamily="34" charset="-120"/>
              </a:rPr>
              <a:t>Model comparison </a:t>
            </a:r>
            <a:endParaRPr lang="en-US" sz="2400" u="sng" dirty="0"/>
          </a:p>
        </p:txBody>
      </p:sp>
      <p:pic>
        <p:nvPicPr>
          <p:cNvPr id="9" name="Picture 8">
            <a:extLst>
              <a:ext uri="{FF2B5EF4-FFF2-40B4-BE49-F238E27FC236}">
                <a16:creationId xmlns:a16="http://schemas.microsoft.com/office/drawing/2014/main" id="{3F1FAE6F-2D05-8471-DE2E-9BC4F777161E}"/>
              </a:ext>
            </a:extLst>
          </p:cNvPr>
          <p:cNvPicPr>
            <a:picLocks noChangeAspect="1"/>
          </p:cNvPicPr>
          <p:nvPr/>
        </p:nvPicPr>
        <p:blipFill>
          <a:blip r:embed="rId2"/>
          <a:stretch>
            <a:fillRect/>
          </a:stretch>
        </p:blipFill>
        <p:spPr>
          <a:xfrm>
            <a:off x="5692962" y="1274334"/>
            <a:ext cx="6378876" cy="3617213"/>
          </a:xfrm>
          <a:prstGeom prst="rect">
            <a:avLst/>
          </a:prstGeom>
        </p:spPr>
      </p:pic>
      <p:sp>
        <p:nvSpPr>
          <p:cNvPr id="10" name="TextBox 9">
            <a:extLst>
              <a:ext uri="{FF2B5EF4-FFF2-40B4-BE49-F238E27FC236}">
                <a16:creationId xmlns:a16="http://schemas.microsoft.com/office/drawing/2014/main" id="{22C51596-C353-DD98-6EA9-9C4DCCAFEF63}"/>
              </a:ext>
            </a:extLst>
          </p:cNvPr>
          <p:cNvSpPr txBox="1"/>
          <p:nvPr/>
        </p:nvSpPr>
        <p:spPr>
          <a:xfrm>
            <a:off x="5532274" y="5053967"/>
            <a:ext cx="6659726" cy="1261884"/>
          </a:xfrm>
          <a:prstGeom prst="rect">
            <a:avLst/>
          </a:prstGeom>
          <a:noFill/>
        </p:spPr>
        <p:txBody>
          <a:bodyPr wrap="square" rtlCol="0">
            <a:spAutoFit/>
          </a:bodyPr>
          <a:lstStyle/>
          <a:p>
            <a:r>
              <a:rPr lang="en-US" sz="2000" b="1" i="1" u="sng" dirty="0">
                <a:solidFill>
                  <a:srgbClr val="FFC000"/>
                </a:solidFill>
              </a:rPr>
              <a:t>Key takeaway</a:t>
            </a:r>
          </a:p>
          <a:p>
            <a:r>
              <a:rPr lang="en-US" sz="1400" b="1" dirty="0"/>
              <a:t>Tree-based ensemble models substantially outperformed the linear and single-tree baselines.</a:t>
            </a:r>
          </a:p>
          <a:p>
            <a:r>
              <a:rPr lang="en-US" sz="1400" b="1" dirty="0"/>
              <a:t>Recall and PR-AUC were emphasized because machine failures are the minority class and missed failures are particularly important in predictive maintenance.</a:t>
            </a:r>
          </a:p>
        </p:txBody>
      </p:sp>
      <p:pic>
        <p:nvPicPr>
          <p:cNvPr id="12" name="Picture 11">
            <a:extLst>
              <a:ext uri="{FF2B5EF4-FFF2-40B4-BE49-F238E27FC236}">
                <a16:creationId xmlns:a16="http://schemas.microsoft.com/office/drawing/2014/main" id="{D4A2C630-C002-E2F2-981E-973422B26A62}"/>
              </a:ext>
            </a:extLst>
          </p:cNvPr>
          <p:cNvPicPr>
            <a:picLocks noChangeAspect="1"/>
          </p:cNvPicPr>
          <p:nvPr/>
        </p:nvPicPr>
        <p:blipFill>
          <a:blip r:embed="rId3"/>
          <a:stretch>
            <a:fillRect/>
          </a:stretch>
        </p:blipFill>
        <p:spPr>
          <a:xfrm>
            <a:off x="618554" y="1274334"/>
            <a:ext cx="2917748" cy="2330334"/>
          </a:xfrm>
          <a:prstGeom prst="rect">
            <a:avLst/>
          </a:prstGeom>
        </p:spPr>
      </p:pic>
      <p:sp>
        <p:nvSpPr>
          <p:cNvPr id="14" name="Text 0">
            <a:extLst>
              <a:ext uri="{FF2B5EF4-FFF2-40B4-BE49-F238E27FC236}">
                <a16:creationId xmlns:a16="http://schemas.microsoft.com/office/drawing/2014/main" id="{0E7E9166-BD0C-2E57-A890-77E9E4A63C20}"/>
              </a:ext>
            </a:extLst>
          </p:cNvPr>
          <p:cNvSpPr txBox="1"/>
          <p:nvPr/>
        </p:nvSpPr>
        <p:spPr>
          <a:xfrm>
            <a:off x="325057" y="302866"/>
            <a:ext cx="3631123" cy="826138"/>
          </a:xfrm>
          <a:prstGeom prst="rect">
            <a:avLst/>
          </a:prstGeom>
          <a:noFill/>
          <a:ln/>
        </p:spPr>
        <p:txBody>
          <a:bodyPr wrap="square" lIns="0" tIns="0" rIns="0" bIns="0" rtlCol="0" anchor="ctr"/>
          <a:lstStyle/>
          <a:p>
            <a:endParaRPr lang="en-US" sz="2000" b="1" dirty="0">
              <a:solidFill>
                <a:srgbClr val="FFC000"/>
              </a:solidFill>
            </a:endParaRPr>
          </a:p>
          <a:p>
            <a:r>
              <a:rPr lang="en-US" sz="2000" b="1" u="sng" kern="0" spc="200" dirty="0">
                <a:solidFill>
                  <a:srgbClr val="E8A33D"/>
                </a:solidFill>
                <a:latin typeface="Calibri" pitchFamily="34" charset="0"/>
                <a:ea typeface="Calibri" pitchFamily="34" charset="-122"/>
                <a:cs typeface="Calibri" pitchFamily="34" charset="-120"/>
              </a:rPr>
              <a:t>ML models &amp; Evaluation</a:t>
            </a:r>
            <a:endParaRPr lang="en-US" sz="2000" u="sng" dirty="0"/>
          </a:p>
          <a:p>
            <a:endParaRPr lang="en-US" sz="2000" b="1" dirty="0">
              <a:solidFill>
                <a:srgbClr val="FFC000"/>
              </a:solidFill>
            </a:endParaRPr>
          </a:p>
        </p:txBody>
      </p:sp>
      <p:sp>
        <p:nvSpPr>
          <p:cNvPr id="18" name="Shape 19">
            <a:extLst>
              <a:ext uri="{FF2B5EF4-FFF2-40B4-BE49-F238E27FC236}">
                <a16:creationId xmlns:a16="http://schemas.microsoft.com/office/drawing/2014/main" id="{E75F242C-C458-8D6F-5113-B7DE9B4C0706}"/>
              </a:ext>
            </a:extLst>
          </p:cNvPr>
          <p:cNvSpPr/>
          <p:nvPr/>
        </p:nvSpPr>
        <p:spPr>
          <a:xfrm>
            <a:off x="325057" y="3844212"/>
            <a:ext cx="3491163" cy="2491274"/>
          </a:xfrm>
          <a:prstGeom prst="roundRect">
            <a:avLst>
              <a:gd name="adj" fmla="val 8000"/>
            </a:avLst>
          </a:prstGeom>
          <a:solidFill>
            <a:srgbClr val="F4F5F7"/>
          </a:solidFill>
          <a:ln w="12700">
            <a:solidFill>
              <a:srgbClr val="E4E6EA"/>
            </a:solidFill>
            <a:prstDash val="solid"/>
          </a:ln>
        </p:spPr>
        <p:txBody>
          <a:bodyPr/>
          <a:lstStyle/>
          <a:p>
            <a:endParaRPr lang="en-US"/>
          </a:p>
        </p:txBody>
      </p:sp>
      <p:sp>
        <p:nvSpPr>
          <p:cNvPr id="20" name="TextBox 19">
            <a:extLst>
              <a:ext uri="{FF2B5EF4-FFF2-40B4-BE49-F238E27FC236}">
                <a16:creationId xmlns:a16="http://schemas.microsoft.com/office/drawing/2014/main" id="{1730478B-EAEA-8630-21D4-ABCB07783388}"/>
              </a:ext>
            </a:extLst>
          </p:cNvPr>
          <p:cNvSpPr txBox="1"/>
          <p:nvPr/>
        </p:nvSpPr>
        <p:spPr>
          <a:xfrm>
            <a:off x="438538" y="4064617"/>
            <a:ext cx="3097763" cy="2031325"/>
          </a:xfrm>
          <a:prstGeom prst="rect">
            <a:avLst/>
          </a:prstGeom>
          <a:noFill/>
        </p:spPr>
        <p:txBody>
          <a:bodyPr wrap="square">
            <a:spAutoFit/>
          </a:bodyPr>
          <a:lstStyle/>
          <a:p>
            <a:pPr>
              <a:buNone/>
            </a:pPr>
            <a:r>
              <a:rPr lang="en-US" b="1" dirty="0"/>
              <a:t>Evaluation Metrics</a:t>
            </a:r>
          </a:p>
          <a:p>
            <a:pPr marL="342900" lvl="0" indent="-342900">
              <a:buFont typeface="Arial" panose="020B0604020202020204" pitchFamily="34" charset="0"/>
              <a:buChar char="•"/>
            </a:pPr>
            <a:r>
              <a:rPr lang="en-US" dirty="0"/>
              <a:t>Precision </a:t>
            </a:r>
          </a:p>
          <a:p>
            <a:pPr marL="342900" lvl="0" indent="-342900">
              <a:buFont typeface="Arial" panose="020B0604020202020204" pitchFamily="34" charset="0"/>
              <a:buChar char="•"/>
            </a:pPr>
            <a:r>
              <a:rPr lang="en-US" dirty="0"/>
              <a:t>Recall </a:t>
            </a:r>
          </a:p>
          <a:p>
            <a:pPr marL="342900" lvl="0" indent="-342900">
              <a:buFont typeface="Arial" panose="020B0604020202020204" pitchFamily="34" charset="0"/>
              <a:buChar char="•"/>
            </a:pPr>
            <a:r>
              <a:rPr lang="en-US" dirty="0"/>
              <a:t>F1-score </a:t>
            </a:r>
          </a:p>
          <a:p>
            <a:pPr marL="342900" lvl="0" indent="-342900">
              <a:buFont typeface="Arial" panose="020B0604020202020204" pitchFamily="34" charset="0"/>
              <a:buChar char="•"/>
            </a:pPr>
            <a:r>
              <a:rPr lang="en-US" dirty="0"/>
              <a:t>PR-AUC </a:t>
            </a:r>
          </a:p>
          <a:p>
            <a:pPr marL="342900" lvl="0" indent="-342900">
              <a:buFont typeface="Arial" panose="020B0604020202020204" pitchFamily="34" charset="0"/>
              <a:buChar char="•"/>
            </a:pPr>
            <a:r>
              <a:rPr lang="en-US" dirty="0"/>
              <a:t>ROC-AUC </a:t>
            </a:r>
          </a:p>
          <a:p>
            <a:pPr marL="342900" lvl="0" indent="-342900">
              <a:buFont typeface="Arial" panose="020B0604020202020204" pitchFamily="34" charset="0"/>
              <a:buChar char="•"/>
            </a:pPr>
            <a:r>
              <a:rPr lang="en-US" dirty="0"/>
              <a:t>False Negative Rate</a:t>
            </a:r>
          </a:p>
        </p:txBody>
      </p:sp>
      <p:sp>
        <p:nvSpPr>
          <p:cNvPr id="21" name="Arrow: Right 20">
            <a:extLst>
              <a:ext uri="{FF2B5EF4-FFF2-40B4-BE49-F238E27FC236}">
                <a16:creationId xmlns:a16="http://schemas.microsoft.com/office/drawing/2014/main" id="{5A85F1CE-81F0-F208-347B-83C9A64CBF17}"/>
              </a:ext>
            </a:extLst>
          </p:cNvPr>
          <p:cNvSpPr/>
          <p:nvPr/>
        </p:nvSpPr>
        <p:spPr>
          <a:xfrm>
            <a:off x="4125427" y="2840624"/>
            <a:ext cx="1221013" cy="1003588"/>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02672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Seven models, one held-out test set</a:t>
            </a:r>
            <a:endParaRPr lang="en-US" sz="3200" dirty="0"/>
          </a:p>
        </p:txBody>
      </p:sp>
      <p:graphicFrame>
        <p:nvGraphicFramePr>
          <p:cNvPr id="4" name="Chart 0"/>
          <p:cNvGraphicFramePr/>
          <p:nvPr/>
        </p:nvGraphicFramePr>
        <p:xfrm>
          <a:off x="548640" y="1600200"/>
          <a:ext cx="69037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772400" y="1691640"/>
            <a:ext cx="3840480" cy="274320"/>
          </a:xfrm>
          <a:prstGeom prst="rect">
            <a:avLst/>
          </a:prstGeom>
          <a:noFill/>
          <a:ln/>
        </p:spPr>
        <p:txBody>
          <a:bodyPr wrap="square" lIns="0" tIns="0" rIns="0" bIns="0" rtlCol="0" anchor="ctr"/>
          <a:lstStyle/>
          <a:p>
            <a:pPr marL="0" indent="0">
              <a:buNone/>
            </a:pPr>
            <a:r>
              <a:rPr lang="en-US" sz="1400" b="1" dirty="0">
                <a:solidFill>
                  <a:srgbClr val="1A1C20"/>
                </a:solidFill>
                <a:latin typeface="Calibri" pitchFamily="34" charset="0"/>
                <a:ea typeface="Calibri" pitchFamily="34" charset="-122"/>
                <a:cs typeface="Calibri" pitchFamily="34" charset="-120"/>
              </a:rPr>
              <a:t>What the chart says</a:t>
            </a:r>
            <a:endParaRPr lang="en-US" sz="1400" dirty="0"/>
          </a:p>
        </p:txBody>
      </p:sp>
      <p:sp>
        <p:nvSpPr>
          <p:cNvPr id="6" name="Text 3"/>
          <p:cNvSpPr txBox="1"/>
          <p:nvPr/>
        </p:nvSpPr>
        <p:spPr>
          <a:xfrm>
            <a:off x="7772400" y="2103120"/>
            <a:ext cx="3840480" cy="2377440"/>
          </a:xfrm>
          <a:prstGeom prst="rect">
            <a:avLst/>
          </a:prstGeom>
          <a:noFill/>
          <a:ln/>
        </p:spPr>
        <p:txBody>
          <a:bodyPr wrap="square" lIns="0" tIns="0" rIns="0" bIns="0" rtlCol="0" anchor="ctr"/>
          <a:lstStyle/>
          <a:p>
            <a:pPr marL="342900" indent="-342900">
              <a:lnSpc>
                <a:spcPts val="1800"/>
              </a:lnSpc>
              <a:spcAft>
                <a:spcPts val="1200"/>
              </a:spcAft>
              <a:buSzPct val="100000"/>
              <a:buChar char="•"/>
            </a:pPr>
            <a:r>
              <a:rPr lang="en-US" sz="1200" dirty="0">
                <a:solidFill>
                  <a:srgbClr val="1A1C20"/>
                </a:solidFill>
                <a:latin typeface="Calibri" pitchFamily="34" charset="0"/>
                <a:ea typeface="Calibri" pitchFamily="34" charset="-122"/>
                <a:cs typeface="Calibri" pitchFamily="34" charset="-120"/>
              </a:rPr>
              <a:t>Tree ensembles dominate. Gradient Boosting reaches PR-AUC 0.894 and ROC-AUC 0.968.</a:t>
            </a:r>
            <a:endParaRPr lang="en-US" sz="1200" dirty="0"/>
          </a:p>
          <a:p>
            <a:pPr marL="342900" indent="-342900">
              <a:lnSpc>
                <a:spcPts val="1800"/>
              </a:lnSpc>
              <a:spcAft>
                <a:spcPts val="1200"/>
              </a:spcAft>
              <a:buSzPct val="100000"/>
              <a:buChar char="•"/>
            </a:pPr>
            <a:r>
              <a:rPr lang="en-US" sz="1200" dirty="0">
                <a:solidFill>
                  <a:srgbClr val="1A1C20"/>
                </a:solidFill>
                <a:latin typeface="Calibri" pitchFamily="34" charset="0"/>
                <a:ea typeface="Calibri" pitchFamily="34" charset="-122"/>
                <a:cs typeface="Calibri" pitchFamily="34" charset="-120"/>
              </a:rPr>
              <a:t>Logistic regression collapses (PR-AUC 0.469) — the problem is not linearly separable.</a:t>
            </a:r>
            <a:endParaRPr lang="en-US" sz="1200" dirty="0"/>
          </a:p>
          <a:p>
            <a:pPr marL="342900" indent="-342900">
              <a:lnSpc>
                <a:spcPts val="1800"/>
              </a:lnSpc>
              <a:buSzPct val="100000"/>
              <a:buChar char="•"/>
            </a:pPr>
            <a:r>
              <a:rPr lang="en-US" sz="1200" dirty="0">
                <a:solidFill>
                  <a:srgbClr val="1A1C20"/>
                </a:solidFill>
                <a:latin typeface="Calibri" pitchFamily="34" charset="0"/>
                <a:ea typeface="Calibri" pitchFamily="34" charset="-122"/>
                <a:cs typeface="Calibri" pitchFamily="34" charset="-120"/>
              </a:rPr>
              <a:t>Class weighting moved recall from 0.18 to 0.88 but dropped PR-AUC: it shifts where you sit on the curve, it does not improve the curve.</a:t>
            </a:r>
            <a:endParaRPr lang="en-US" sz="1200" dirty="0"/>
          </a:p>
        </p:txBody>
      </p:sp>
      <p:sp>
        <p:nvSpPr>
          <p:cNvPr id="7" name="Shape 4"/>
          <p:cNvSpPr/>
          <p:nvPr/>
        </p:nvSpPr>
        <p:spPr>
          <a:xfrm>
            <a:off x="7772400" y="4617720"/>
            <a:ext cx="3840480" cy="914400"/>
          </a:xfrm>
          <a:prstGeom prst="roundRect">
            <a:avLst>
              <a:gd name="adj" fmla="val 8000"/>
            </a:avLst>
          </a:prstGeom>
          <a:solidFill>
            <a:srgbClr val="F4F5F7"/>
          </a:solidFill>
          <a:ln w="12700">
            <a:solidFill>
              <a:srgbClr val="E4E6EA"/>
            </a:solidFill>
            <a:prstDash val="solid"/>
          </a:ln>
        </p:spPr>
        <p:txBody>
          <a:bodyPr/>
          <a:lstStyle/>
          <a:p>
            <a:endParaRPr lang="en-US"/>
          </a:p>
        </p:txBody>
      </p:sp>
      <p:sp>
        <p:nvSpPr>
          <p:cNvPr id="8" name="Text 5"/>
          <p:cNvSpPr txBox="1"/>
          <p:nvPr/>
        </p:nvSpPr>
        <p:spPr>
          <a:xfrm>
            <a:off x="7973568" y="4754880"/>
            <a:ext cx="3438144" cy="658368"/>
          </a:xfrm>
          <a:prstGeom prst="rect">
            <a:avLst/>
          </a:prstGeom>
          <a:noFill/>
          <a:ln/>
        </p:spPr>
        <p:txBody>
          <a:bodyPr wrap="square" lIns="0" tIns="0" rIns="0" bIns="0" rtlCol="0" anchor="ctr"/>
          <a:lstStyle/>
          <a:p>
            <a:pPr marL="0" indent="0">
              <a:buNone/>
            </a:pPr>
            <a:r>
              <a:rPr lang="en-US" sz="1100" dirty="0">
                <a:solidFill>
                  <a:srgbClr val="5A6472"/>
                </a:solidFill>
                <a:latin typeface="Calibri" pitchFamily="34" charset="0"/>
                <a:ea typeface="Calibri" pitchFamily="34" charset="-122"/>
                <a:cs typeface="Calibri" pitchFamily="34" charset="-120"/>
              </a:rPr>
              <a:t>80/20 stratified split. 5-fold CV for tuning. Every model — classical, neural, unsupervised — scored on the same test set.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8D8E75DF-CC07-A34D-4ABC-7DB5EC0AE00B}"/>
              </a:ext>
            </a:extLst>
          </p:cNvPr>
          <p:cNvSpPr txBox="1"/>
          <p:nvPr/>
        </p:nvSpPr>
        <p:spPr>
          <a:xfrm>
            <a:off x="634482" y="302866"/>
            <a:ext cx="2939142" cy="826138"/>
          </a:xfrm>
          <a:prstGeom prst="rect">
            <a:avLst/>
          </a:prstGeom>
          <a:noFill/>
          <a:ln/>
        </p:spPr>
        <p:txBody>
          <a:bodyPr wrap="square" lIns="0" tIns="0" rIns="0" bIns="0" rtlCol="0" anchor="ctr"/>
          <a:lstStyle/>
          <a:p>
            <a:endParaRPr lang="en-US" sz="2000" b="1" dirty="0">
              <a:solidFill>
                <a:srgbClr val="FFC000"/>
              </a:solidFill>
            </a:endParaRPr>
          </a:p>
          <a:p>
            <a:r>
              <a:rPr lang="en-US" sz="2400" b="1" kern="0" spc="200" dirty="0">
                <a:solidFill>
                  <a:srgbClr val="E8A33D"/>
                </a:solidFill>
                <a:latin typeface="Calibri" pitchFamily="34" charset="0"/>
                <a:ea typeface="Calibri" pitchFamily="34" charset="-122"/>
                <a:cs typeface="Calibri" pitchFamily="34" charset="-120"/>
              </a:rPr>
              <a:t>Final ML outcome </a:t>
            </a:r>
            <a:endParaRPr lang="en-US" sz="2400" b="1" dirty="0"/>
          </a:p>
          <a:p>
            <a:endParaRPr lang="en-US" sz="2000" b="1" dirty="0">
              <a:solidFill>
                <a:srgbClr val="FFC000"/>
              </a:solidFill>
            </a:endParaRPr>
          </a:p>
        </p:txBody>
      </p:sp>
      <p:sp>
        <p:nvSpPr>
          <p:cNvPr id="9" name="Shape 19">
            <a:extLst>
              <a:ext uri="{FF2B5EF4-FFF2-40B4-BE49-F238E27FC236}">
                <a16:creationId xmlns:a16="http://schemas.microsoft.com/office/drawing/2014/main" id="{DAE13F2A-B77E-BADF-940C-1C40C80281EC}"/>
              </a:ext>
            </a:extLst>
          </p:cNvPr>
          <p:cNvSpPr/>
          <p:nvPr/>
        </p:nvSpPr>
        <p:spPr>
          <a:xfrm>
            <a:off x="325057" y="1212980"/>
            <a:ext cx="5235988" cy="1836989"/>
          </a:xfrm>
          <a:prstGeom prst="roundRect">
            <a:avLst>
              <a:gd name="adj" fmla="val 8000"/>
            </a:avLst>
          </a:prstGeom>
          <a:solidFill>
            <a:schemeClr val="bg2">
              <a:lumMod val="75000"/>
            </a:schemeClr>
          </a:solidFill>
          <a:ln w="12700">
            <a:solidFill>
              <a:srgbClr val="E4E6EA"/>
            </a:solidFill>
            <a:prstDash val="solid"/>
          </a:ln>
        </p:spPr>
        <p:txBody>
          <a:bodyPr/>
          <a:lstStyle/>
          <a:p>
            <a:pPr>
              <a:buNone/>
            </a:pPr>
            <a:r>
              <a:rPr lang="en-US" b="1" i="1" u="sng" dirty="0">
                <a:solidFill>
                  <a:srgbClr val="FFC000"/>
                </a:solidFill>
              </a:rPr>
              <a:t>Overall best Model :</a:t>
            </a:r>
          </a:p>
          <a:p>
            <a:pPr>
              <a:buNone/>
            </a:pPr>
            <a:r>
              <a:rPr lang="en-US" b="1" dirty="0"/>
              <a:t>Gradient Boosting (Tuned)</a:t>
            </a:r>
            <a:endParaRPr lang="en-US" dirty="0"/>
          </a:p>
          <a:p>
            <a:r>
              <a:rPr lang="en-US" sz="1400" dirty="0"/>
              <a:t>Selected based on cross-validation/model-selection procedure</a:t>
            </a:r>
            <a:r>
              <a:rPr lang="en-US" dirty="0"/>
              <a:t>:</a:t>
            </a:r>
          </a:p>
          <a:p>
            <a:pPr marL="285750" indent="-285750">
              <a:buFont typeface="Arial" panose="020B0604020202020204" pitchFamily="34" charset="0"/>
              <a:buChar char="•"/>
            </a:pPr>
            <a:r>
              <a:rPr lang="en-US" b="1" dirty="0"/>
              <a:t>CV PR-AUC = 0.9133</a:t>
            </a:r>
            <a:endParaRPr lang="en-US" dirty="0"/>
          </a:p>
        </p:txBody>
      </p:sp>
      <p:sp>
        <p:nvSpPr>
          <p:cNvPr id="13" name="Shape 19">
            <a:extLst>
              <a:ext uri="{FF2B5EF4-FFF2-40B4-BE49-F238E27FC236}">
                <a16:creationId xmlns:a16="http://schemas.microsoft.com/office/drawing/2014/main" id="{9E7390CD-F153-75F6-4770-89922F0ABC23}"/>
              </a:ext>
            </a:extLst>
          </p:cNvPr>
          <p:cNvSpPr/>
          <p:nvPr/>
        </p:nvSpPr>
        <p:spPr>
          <a:xfrm>
            <a:off x="6096000" y="1168866"/>
            <a:ext cx="5235988" cy="1881103"/>
          </a:xfrm>
          <a:prstGeom prst="roundRect">
            <a:avLst>
              <a:gd name="adj" fmla="val 8000"/>
            </a:avLst>
          </a:prstGeom>
          <a:solidFill>
            <a:schemeClr val="bg2">
              <a:lumMod val="75000"/>
            </a:schemeClr>
          </a:solidFill>
          <a:ln w="12700">
            <a:solidFill>
              <a:srgbClr val="E4E6EA"/>
            </a:solidFill>
            <a:prstDash val="solid"/>
          </a:ln>
        </p:spPr>
        <p:txBody>
          <a:bodyPr/>
          <a:lstStyle/>
          <a:p>
            <a:pPr>
              <a:buNone/>
            </a:pPr>
            <a:r>
              <a:rPr lang="en-US" b="1" u="sng" dirty="0">
                <a:solidFill>
                  <a:srgbClr val="FFC000"/>
                </a:solidFill>
              </a:rPr>
              <a:t>Test performance:</a:t>
            </a:r>
          </a:p>
          <a:p>
            <a:r>
              <a:rPr lang="en-US" dirty="0"/>
              <a:t>Precision   98.15%</a:t>
            </a:r>
          </a:p>
          <a:p>
            <a:r>
              <a:rPr lang="en-US" dirty="0"/>
              <a:t>Recall      77.94%</a:t>
            </a:r>
          </a:p>
          <a:p>
            <a:r>
              <a:rPr lang="en-US" dirty="0"/>
              <a:t>F1          86.89%</a:t>
            </a:r>
          </a:p>
          <a:p>
            <a:r>
              <a:rPr lang="en-US" dirty="0"/>
              <a:t>PR-AUC      89.25%</a:t>
            </a:r>
          </a:p>
          <a:p>
            <a:r>
              <a:rPr lang="en-US" dirty="0"/>
              <a:t>ROC-AUC     96.67%</a:t>
            </a:r>
          </a:p>
        </p:txBody>
      </p:sp>
      <p:sp>
        <p:nvSpPr>
          <p:cNvPr id="15" name="Shape 19">
            <a:extLst>
              <a:ext uri="{FF2B5EF4-FFF2-40B4-BE49-F238E27FC236}">
                <a16:creationId xmlns:a16="http://schemas.microsoft.com/office/drawing/2014/main" id="{DC824E1A-EDB8-97F7-AB02-7ACA84032E63}"/>
              </a:ext>
            </a:extLst>
          </p:cNvPr>
          <p:cNvSpPr/>
          <p:nvPr/>
        </p:nvSpPr>
        <p:spPr>
          <a:xfrm>
            <a:off x="325057" y="3560043"/>
            <a:ext cx="5312147" cy="1705945"/>
          </a:xfrm>
          <a:prstGeom prst="roundRect">
            <a:avLst>
              <a:gd name="adj" fmla="val 8000"/>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path path="circle">
              <a:fillToRect r="100000" b="100000"/>
            </a:path>
            <a:tileRect l="-100000" t="-100000"/>
          </a:gradFill>
          <a:ln w="12700">
            <a:solidFill>
              <a:srgbClr val="E4E6EA"/>
            </a:solidFill>
            <a:prstDash val="solid"/>
          </a:ln>
        </p:spPr>
        <p:txBody>
          <a:bodyPr/>
          <a:lstStyle/>
          <a:p>
            <a:r>
              <a:rPr lang="en-US" sz="1600" b="1" u="sng" dirty="0">
                <a:solidFill>
                  <a:schemeClr val="tx1">
                    <a:lumMod val="85000"/>
                    <a:lumOff val="15000"/>
                  </a:schemeClr>
                </a:solidFill>
              </a:rPr>
              <a:t>Failure-Sensitive Configuration</a:t>
            </a:r>
          </a:p>
          <a:p>
            <a:r>
              <a:rPr lang="en-US" sz="1600" b="1" u="sng" dirty="0">
                <a:solidFill>
                  <a:schemeClr val="tx1">
                    <a:lumMod val="85000"/>
                    <a:lumOff val="15000"/>
                  </a:schemeClr>
                </a:solidFill>
              </a:rPr>
              <a:t>RF + optimized threshold</a:t>
            </a:r>
          </a:p>
          <a:p>
            <a:endParaRPr lang="en-US" sz="1600" u="sng" dirty="0">
              <a:solidFill>
                <a:srgbClr val="E8A33D"/>
              </a:solidFill>
            </a:endParaRPr>
          </a:p>
          <a:p>
            <a:r>
              <a:rPr lang="en-US" dirty="0"/>
              <a:t>Recall      94.12%</a:t>
            </a:r>
          </a:p>
          <a:p>
            <a:r>
              <a:rPr lang="en-US" dirty="0"/>
              <a:t>FN Rate      5.88%</a:t>
            </a:r>
          </a:p>
          <a:p>
            <a:r>
              <a:rPr lang="en-US" dirty="0"/>
              <a:t>Precision   30.05%</a:t>
            </a:r>
            <a:endParaRPr lang="en-US" dirty="0">
              <a:latin typeface="Courier New" panose="02070309020205020404" pitchFamily="49" charset="0"/>
            </a:endParaRPr>
          </a:p>
        </p:txBody>
      </p:sp>
      <p:pic>
        <p:nvPicPr>
          <p:cNvPr id="17" name="Picture 16">
            <a:extLst>
              <a:ext uri="{FF2B5EF4-FFF2-40B4-BE49-F238E27FC236}">
                <a16:creationId xmlns:a16="http://schemas.microsoft.com/office/drawing/2014/main" id="{8623FD00-CC77-1449-CC29-D5D3B2E75752}"/>
              </a:ext>
            </a:extLst>
          </p:cNvPr>
          <p:cNvPicPr>
            <a:picLocks noChangeAspect="1"/>
          </p:cNvPicPr>
          <p:nvPr/>
        </p:nvPicPr>
        <p:blipFill>
          <a:blip r:embed="rId2"/>
          <a:stretch>
            <a:fillRect/>
          </a:stretch>
        </p:blipFill>
        <p:spPr>
          <a:xfrm>
            <a:off x="1400835" y="5481008"/>
            <a:ext cx="8974717" cy="744065"/>
          </a:xfrm>
          <a:prstGeom prst="rect">
            <a:avLst/>
          </a:prstGeom>
        </p:spPr>
      </p:pic>
    </p:spTree>
    <p:extLst>
      <p:ext uri="{BB962C8B-B14F-4D97-AF65-F5344CB8AC3E}">
        <p14:creationId xmlns:p14="http://schemas.microsoft.com/office/powerpoint/2010/main" val="3323922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DEEP LEARNING</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Deep learning lost. That is the correct result.</a:t>
            </a:r>
            <a:endParaRPr lang="en-US" sz="3200" dirty="0"/>
          </a:p>
        </p:txBody>
      </p:sp>
      <p:sp>
        <p:nvSpPr>
          <p:cNvPr id="4" name="Shape 2"/>
          <p:cNvSpPr/>
          <p:nvPr/>
        </p:nvSpPr>
        <p:spPr>
          <a:xfrm>
            <a:off x="548640" y="1645920"/>
            <a:ext cx="5440680" cy="1965960"/>
          </a:xfrm>
          <a:prstGeom prst="roundRect">
            <a:avLst>
              <a:gd name="adj" fmla="val 4651"/>
            </a:avLst>
          </a:prstGeom>
          <a:solidFill>
            <a:srgbClr val="F4F5F7"/>
          </a:solidFill>
          <a:ln w="12700">
            <a:solidFill>
              <a:srgbClr val="E4E6EA"/>
            </a:solidFill>
            <a:prstDash val="solid"/>
          </a:ln>
        </p:spPr>
        <p:txBody>
          <a:bodyPr/>
          <a:lstStyle/>
          <a:p>
            <a:endParaRPr lang="en-US"/>
          </a:p>
        </p:txBody>
      </p:sp>
      <p:sp>
        <p:nvSpPr>
          <p:cNvPr id="5" name="Text 3"/>
          <p:cNvSpPr txBox="1"/>
          <p:nvPr/>
        </p:nvSpPr>
        <p:spPr>
          <a:xfrm>
            <a:off x="822960" y="1847088"/>
            <a:ext cx="4937760" cy="292608"/>
          </a:xfrm>
          <a:prstGeom prst="rect">
            <a:avLst/>
          </a:prstGeom>
          <a:noFill/>
          <a:ln/>
        </p:spPr>
        <p:txBody>
          <a:bodyPr wrap="square" lIns="0" tIns="0" rIns="0" bIns="0" rtlCol="0" anchor="ctr"/>
          <a:lstStyle/>
          <a:p>
            <a:pPr marL="0" indent="0">
              <a:buNone/>
            </a:pPr>
            <a:r>
              <a:rPr lang="en-US" sz="1400" b="1" dirty="0">
                <a:solidFill>
                  <a:srgbClr val="1A1C20"/>
                </a:solidFill>
                <a:latin typeface="Calibri" pitchFamily="34" charset="0"/>
                <a:ea typeface="Calibri" pitchFamily="34" charset="-122"/>
                <a:cs typeface="Calibri" pitchFamily="34" charset="-120"/>
              </a:rPr>
              <a:t>MLP classifier</a:t>
            </a:r>
            <a:endParaRPr lang="en-US" sz="1400" dirty="0"/>
          </a:p>
        </p:txBody>
      </p:sp>
      <p:sp>
        <p:nvSpPr>
          <p:cNvPr id="6" name="Text 4"/>
          <p:cNvSpPr txBox="1"/>
          <p:nvPr/>
        </p:nvSpPr>
        <p:spPr>
          <a:xfrm>
            <a:off x="822960" y="2212848"/>
            <a:ext cx="4937760" cy="123444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64 → 48 → 32 → 1, LeakyReLU, class-weighted loss, early stopping with best-epoch restore, LR scheduling. Validation split taken from inside the training set, so the test set stays untouched.</a:t>
            </a:r>
            <a:endParaRPr lang="en-US" sz="1250" dirty="0"/>
          </a:p>
        </p:txBody>
      </p:sp>
      <p:sp>
        <p:nvSpPr>
          <p:cNvPr id="7" name="Shape 5"/>
          <p:cNvSpPr/>
          <p:nvPr/>
        </p:nvSpPr>
        <p:spPr>
          <a:xfrm>
            <a:off x="6172200" y="1645920"/>
            <a:ext cx="5440680" cy="1965960"/>
          </a:xfrm>
          <a:prstGeom prst="roundRect">
            <a:avLst>
              <a:gd name="adj" fmla="val 4651"/>
            </a:avLst>
          </a:prstGeom>
          <a:solidFill>
            <a:srgbClr val="F4F5F7"/>
          </a:solidFill>
          <a:ln w="12700">
            <a:solidFill>
              <a:srgbClr val="E4E6EA"/>
            </a:solidFill>
            <a:prstDash val="solid"/>
          </a:ln>
        </p:spPr>
        <p:txBody>
          <a:bodyPr/>
          <a:lstStyle/>
          <a:p>
            <a:endParaRPr lang="en-US"/>
          </a:p>
        </p:txBody>
      </p:sp>
      <p:sp>
        <p:nvSpPr>
          <p:cNvPr id="8" name="Text 6"/>
          <p:cNvSpPr txBox="1"/>
          <p:nvPr/>
        </p:nvSpPr>
        <p:spPr>
          <a:xfrm>
            <a:off x="6446520" y="1847088"/>
            <a:ext cx="4937760" cy="292608"/>
          </a:xfrm>
          <a:prstGeom prst="rect">
            <a:avLst/>
          </a:prstGeom>
          <a:noFill/>
          <a:ln/>
        </p:spPr>
        <p:txBody>
          <a:bodyPr wrap="square" lIns="0" tIns="0" rIns="0" bIns="0" rtlCol="0" anchor="ctr"/>
          <a:lstStyle/>
          <a:p>
            <a:pPr marL="0" indent="0">
              <a:buNone/>
            </a:pPr>
            <a:r>
              <a:rPr lang="en-US" sz="1400" b="1" dirty="0">
                <a:solidFill>
                  <a:srgbClr val="1A1C20"/>
                </a:solidFill>
                <a:latin typeface="Calibri" pitchFamily="34" charset="0"/>
                <a:ea typeface="Calibri" pitchFamily="34" charset="-122"/>
                <a:cs typeface="Calibri" pitchFamily="34" charset="-120"/>
              </a:rPr>
              <a:t>Autoencoder — unsupervised</a:t>
            </a:r>
            <a:endParaRPr lang="en-US" sz="1400" dirty="0"/>
          </a:p>
        </p:txBody>
      </p:sp>
      <p:sp>
        <p:nvSpPr>
          <p:cNvPr id="9" name="Text 7"/>
          <p:cNvSpPr txBox="1"/>
          <p:nvPr/>
        </p:nvSpPr>
        <p:spPr>
          <a:xfrm>
            <a:off x="6446520" y="2212848"/>
            <a:ext cx="4937760" cy="123444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Trained only on healthy records through a 6-unit bottleneck. Reconstruction error becomes an anomaly score. No failure labels used in training — only to pick a threshold and evaluate.</a:t>
            </a:r>
            <a:endParaRPr lang="en-US" sz="1250" dirty="0"/>
          </a:p>
        </p:txBody>
      </p:sp>
      <p:sp>
        <p:nvSpPr>
          <p:cNvPr id="10" name="Shape 8"/>
          <p:cNvSpPr/>
          <p:nvPr/>
        </p:nvSpPr>
        <p:spPr>
          <a:xfrm>
            <a:off x="548640" y="3840480"/>
            <a:ext cx="11064240" cy="2057400"/>
          </a:xfrm>
          <a:prstGeom prst="roundRect">
            <a:avLst>
              <a:gd name="adj" fmla="val 4444"/>
            </a:avLst>
          </a:prstGeom>
          <a:solidFill>
            <a:srgbClr val="2B2D33"/>
          </a:solidFill>
          <a:ln/>
        </p:spPr>
        <p:txBody>
          <a:bodyPr/>
          <a:lstStyle/>
          <a:p>
            <a:endParaRPr lang="en-US"/>
          </a:p>
        </p:txBody>
      </p:sp>
      <p:sp>
        <p:nvSpPr>
          <p:cNvPr id="11" name="Text 9"/>
          <p:cNvSpPr txBox="1"/>
          <p:nvPr/>
        </p:nvSpPr>
        <p:spPr>
          <a:xfrm>
            <a:off x="914400" y="4069080"/>
            <a:ext cx="10332720" cy="320040"/>
          </a:xfrm>
          <a:prstGeom prst="rect">
            <a:avLst/>
          </a:prstGeom>
          <a:noFill/>
          <a:ln/>
        </p:spPr>
        <p:txBody>
          <a:bodyPr wrap="square" lIns="0" tIns="0" rIns="0" bIns="0"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Why reporting the loss is better practice than engineering a win</a:t>
            </a:r>
            <a:endParaRPr lang="en-US" sz="1400" dirty="0"/>
          </a:p>
        </p:txBody>
      </p:sp>
      <p:sp>
        <p:nvSpPr>
          <p:cNvPr id="12" name="Text 10"/>
          <p:cNvSpPr txBox="1"/>
          <p:nvPr/>
        </p:nvSpPr>
        <p:spPr>
          <a:xfrm>
            <a:off x="914400" y="4480560"/>
            <a:ext cx="10332720" cy="1234440"/>
          </a:xfrm>
          <a:prstGeom prst="rect">
            <a:avLst/>
          </a:prstGeom>
          <a:noFill/>
          <a:ln/>
        </p:spPr>
        <p:txBody>
          <a:bodyPr wrap="square" lIns="0" tIns="0" rIns="0" bIns="0" rtlCol="0" anchor="ctr"/>
          <a:lstStyle/>
          <a:p>
            <a:pPr marL="0" indent="0">
              <a:lnSpc>
                <a:spcPts val="2000"/>
              </a:lnSpc>
              <a:spcAft>
                <a:spcPts val="1000"/>
              </a:spcAft>
              <a:buNone/>
            </a:pPr>
            <a:r>
              <a:rPr lang="en-US" sz="1300" dirty="0">
                <a:solidFill>
                  <a:srgbClr val="D6DAE1"/>
                </a:solidFill>
                <a:latin typeface="Calibri" pitchFamily="34" charset="0"/>
                <a:ea typeface="Calibri" pitchFamily="34" charset="-122"/>
                <a:cs typeface="Calibri" pitchFamily="34" charset="-120"/>
              </a:rPr>
              <a:t>Gradient-boosted trees are consistently strong on small, well-engineered tabular data. With 10,000 rows and 9 features there is neither the volume nor the structural complexity for a neural network's extra flexibility to pay for itself.</a:t>
            </a:r>
            <a:endParaRPr lang="en-US" sz="1300" dirty="0"/>
          </a:p>
          <a:p>
            <a:pPr marL="0" indent="0">
              <a:lnSpc>
                <a:spcPts val="2000"/>
              </a:lnSpc>
              <a:buNone/>
            </a:pPr>
            <a:r>
              <a:rPr lang="en-US" sz="1300" dirty="0">
                <a:solidFill>
                  <a:srgbClr val="D6DAE1"/>
                </a:solidFill>
                <a:latin typeface="Calibri" pitchFamily="34" charset="0"/>
                <a:ea typeface="Calibri" pitchFamily="34" charset="-122"/>
                <a:cs typeface="Calibri" pitchFamily="34" charset="-120"/>
              </a:rPr>
              <a:t>The autoencoder still earns its place: it flags anomalies no supervised model can, including failure modes that were rare or absent in training.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THE SECOND BUG</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The threshold is part of the model</a:t>
            </a:r>
            <a:endParaRPr lang="en-US" sz="3200" dirty="0"/>
          </a:p>
        </p:txBody>
      </p:sp>
      <p:sp>
        <p:nvSpPr>
          <p:cNvPr id="4" name="Text 2"/>
          <p:cNvSpPr txBox="1"/>
          <p:nvPr/>
        </p:nvSpPr>
        <p:spPr>
          <a:xfrm>
            <a:off x="548640" y="1572768"/>
            <a:ext cx="11064240" cy="365760"/>
          </a:xfrm>
          <a:prstGeom prst="rect">
            <a:avLst/>
          </a:prstGeom>
          <a:noFill/>
          <a:ln/>
        </p:spPr>
        <p:txBody>
          <a:bodyPr wrap="square" lIns="0" tIns="0" rIns="0" bIns="0" rtlCol="0" anchor="ctr"/>
          <a:lstStyle/>
          <a:p>
            <a:pPr marL="0" indent="0">
              <a:buNone/>
            </a:pPr>
            <a:r>
              <a:rPr lang="en-US" sz="1500" dirty="0">
                <a:solidFill>
                  <a:srgbClr val="1A1C20"/>
                </a:solidFill>
                <a:latin typeface="Calibri" pitchFamily="34" charset="0"/>
                <a:ea typeface="Calibri" pitchFamily="34" charset="-122"/>
                <a:cs typeface="Calibri" pitchFamily="34" charset="-120"/>
              </a:rPr>
              <a:t>0.5 is a convention, not a business decision. Given the cost asymmetry, we maximise recall subject to precision staying above 30%.</a:t>
            </a:r>
            <a:endParaRPr lang="en-US" sz="1500" dirty="0"/>
          </a:p>
        </p:txBody>
      </p:sp>
      <p:sp>
        <p:nvSpPr>
          <p:cNvPr id="5" name="Shape 3"/>
          <p:cNvSpPr/>
          <p:nvPr/>
        </p:nvSpPr>
        <p:spPr>
          <a:xfrm>
            <a:off x="548640" y="2148840"/>
            <a:ext cx="2606040" cy="1463040"/>
          </a:xfrm>
          <a:prstGeom prst="roundRect">
            <a:avLst>
              <a:gd name="adj" fmla="val 5000"/>
            </a:avLst>
          </a:prstGeom>
          <a:solidFill>
            <a:srgbClr val="F4F5F7"/>
          </a:solidFill>
          <a:ln w="12700">
            <a:solidFill>
              <a:srgbClr val="E4E6EA"/>
            </a:solidFill>
            <a:prstDash val="solid"/>
          </a:ln>
        </p:spPr>
        <p:txBody>
          <a:bodyPr/>
          <a:lstStyle/>
          <a:p>
            <a:endParaRPr lang="en-US"/>
          </a:p>
        </p:txBody>
      </p:sp>
      <p:sp>
        <p:nvSpPr>
          <p:cNvPr id="6" name="Text 4"/>
          <p:cNvSpPr txBox="1"/>
          <p:nvPr/>
        </p:nvSpPr>
        <p:spPr>
          <a:xfrm>
            <a:off x="548640" y="2313432"/>
            <a:ext cx="2606040" cy="658368"/>
          </a:xfrm>
          <a:prstGeom prst="rect">
            <a:avLst/>
          </a:prstGeom>
          <a:noFill/>
          <a:ln/>
        </p:spPr>
        <p:txBody>
          <a:bodyPr wrap="square" lIns="0" tIns="0" rIns="0" bIns="0" rtlCol="0" anchor="ctr"/>
          <a:lstStyle/>
          <a:p>
            <a:pPr marL="0" indent="0" algn="ctr">
              <a:buNone/>
            </a:pPr>
            <a:r>
              <a:rPr lang="en-US" sz="4000" b="1" dirty="0">
                <a:solidFill>
                  <a:srgbClr val="5A6472"/>
                </a:solidFill>
                <a:latin typeface="Cambria" pitchFamily="34" charset="0"/>
                <a:ea typeface="Cambria" pitchFamily="34" charset="-122"/>
                <a:cs typeface="Cambria" pitchFamily="34" charset="-120"/>
              </a:rPr>
              <a:t>0.779</a:t>
            </a:r>
            <a:endParaRPr lang="en-US" sz="4000" dirty="0"/>
          </a:p>
        </p:txBody>
      </p:sp>
      <p:sp>
        <p:nvSpPr>
          <p:cNvPr id="7" name="Text 5"/>
          <p:cNvSpPr txBox="1"/>
          <p:nvPr/>
        </p:nvSpPr>
        <p:spPr>
          <a:xfrm>
            <a:off x="658368" y="2990088"/>
            <a:ext cx="2386584" cy="457200"/>
          </a:xfrm>
          <a:prstGeom prst="rect">
            <a:avLst/>
          </a:prstGeom>
          <a:noFill/>
          <a:ln/>
        </p:spPr>
        <p:txBody>
          <a:bodyPr wrap="square" lIns="0" tIns="0" rIns="0" bIns="0" rtlCol="0" anchor="ctr"/>
          <a:lstStyle/>
          <a:p>
            <a:pPr marL="0" indent="0" algn="ctr">
              <a:buNone/>
            </a:pPr>
            <a:r>
              <a:rPr lang="en-US" sz="1100" dirty="0">
                <a:solidFill>
                  <a:srgbClr val="5A6472"/>
                </a:solidFill>
                <a:latin typeface="Calibri" pitchFamily="34" charset="0"/>
                <a:ea typeface="Calibri" pitchFamily="34" charset="-122"/>
                <a:cs typeface="Calibri" pitchFamily="34" charset="-120"/>
              </a:rPr>
              <a:t>Recall at default 0.5</a:t>
            </a:r>
            <a:endParaRPr lang="en-US" sz="1100" dirty="0"/>
          </a:p>
        </p:txBody>
      </p:sp>
      <p:sp>
        <p:nvSpPr>
          <p:cNvPr id="8" name="Shape 6"/>
          <p:cNvSpPr/>
          <p:nvPr/>
        </p:nvSpPr>
        <p:spPr>
          <a:xfrm>
            <a:off x="3337560" y="2697480"/>
            <a:ext cx="502920" cy="384048"/>
          </a:xfrm>
          <a:prstGeom prst="chevron">
            <a:avLst/>
          </a:prstGeom>
          <a:solidFill>
            <a:srgbClr val="E8A33D"/>
          </a:solidFill>
          <a:ln w="12700">
            <a:solidFill>
              <a:srgbClr val="E8A33D"/>
            </a:solidFill>
            <a:prstDash val="solid"/>
          </a:ln>
        </p:spPr>
        <p:txBody>
          <a:bodyPr/>
          <a:lstStyle/>
          <a:p>
            <a:endParaRPr lang="en-US"/>
          </a:p>
        </p:txBody>
      </p:sp>
      <p:sp>
        <p:nvSpPr>
          <p:cNvPr id="9" name="Shape 7"/>
          <p:cNvSpPr/>
          <p:nvPr/>
        </p:nvSpPr>
        <p:spPr>
          <a:xfrm>
            <a:off x="4023360" y="2148840"/>
            <a:ext cx="2606040" cy="1463040"/>
          </a:xfrm>
          <a:prstGeom prst="roundRect">
            <a:avLst>
              <a:gd name="adj" fmla="val 5000"/>
            </a:avLst>
          </a:prstGeom>
          <a:solidFill>
            <a:srgbClr val="F4F5F7"/>
          </a:solidFill>
          <a:ln w="12700">
            <a:solidFill>
              <a:srgbClr val="E4E6EA"/>
            </a:solidFill>
            <a:prstDash val="solid"/>
          </a:ln>
        </p:spPr>
        <p:txBody>
          <a:bodyPr/>
          <a:lstStyle/>
          <a:p>
            <a:endParaRPr lang="en-US"/>
          </a:p>
        </p:txBody>
      </p:sp>
      <p:sp>
        <p:nvSpPr>
          <p:cNvPr id="10" name="Text 8"/>
          <p:cNvSpPr txBox="1"/>
          <p:nvPr/>
        </p:nvSpPr>
        <p:spPr>
          <a:xfrm>
            <a:off x="4023360" y="2313432"/>
            <a:ext cx="2606040" cy="658368"/>
          </a:xfrm>
          <a:prstGeom prst="rect">
            <a:avLst/>
          </a:prstGeom>
          <a:noFill/>
          <a:ln/>
        </p:spPr>
        <p:txBody>
          <a:bodyPr wrap="square" lIns="0" tIns="0" rIns="0" bIns="0" rtlCol="0" anchor="ctr"/>
          <a:lstStyle/>
          <a:p>
            <a:pPr marL="0" indent="0" algn="ctr">
              <a:buNone/>
            </a:pPr>
            <a:r>
              <a:rPr lang="en-US" sz="4000" b="1" dirty="0">
                <a:solidFill>
                  <a:srgbClr val="2E8B6E"/>
                </a:solidFill>
                <a:latin typeface="Cambria" pitchFamily="34" charset="0"/>
                <a:ea typeface="Cambria" pitchFamily="34" charset="-122"/>
                <a:cs typeface="Cambria" pitchFamily="34" charset="-120"/>
              </a:rPr>
              <a:t>0.941</a:t>
            </a:r>
            <a:endParaRPr lang="en-US" sz="4000" dirty="0"/>
          </a:p>
        </p:txBody>
      </p:sp>
      <p:sp>
        <p:nvSpPr>
          <p:cNvPr id="11" name="Text 9"/>
          <p:cNvSpPr txBox="1"/>
          <p:nvPr/>
        </p:nvSpPr>
        <p:spPr>
          <a:xfrm>
            <a:off x="4133088" y="2990088"/>
            <a:ext cx="2386584" cy="457200"/>
          </a:xfrm>
          <a:prstGeom prst="rect">
            <a:avLst/>
          </a:prstGeom>
          <a:noFill/>
          <a:ln/>
        </p:spPr>
        <p:txBody>
          <a:bodyPr wrap="square" lIns="0" tIns="0" rIns="0" bIns="0" rtlCol="0" anchor="ctr"/>
          <a:lstStyle/>
          <a:p>
            <a:pPr marL="0" indent="0" algn="ctr">
              <a:buNone/>
            </a:pPr>
            <a:r>
              <a:rPr lang="en-US" sz="1100" dirty="0">
                <a:solidFill>
                  <a:srgbClr val="5A6472"/>
                </a:solidFill>
                <a:latin typeface="Calibri" pitchFamily="34" charset="0"/>
                <a:ea typeface="Calibri" pitchFamily="34" charset="-122"/>
                <a:cs typeface="Calibri" pitchFamily="34" charset="-120"/>
              </a:rPr>
              <a:t>Recall at tuned 0.0092</a:t>
            </a:r>
            <a:endParaRPr lang="en-US" sz="1100" dirty="0"/>
          </a:p>
        </p:txBody>
      </p:sp>
      <p:sp>
        <p:nvSpPr>
          <p:cNvPr id="12" name="Shape 10"/>
          <p:cNvSpPr/>
          <p:nvPr/>
        </p:nvSpPr>
        <p:spPr>
          <a:xfrm>
            <a:off x="6812280" y="2148840"/>
            <a:ext cx="2331720" cy="1463040"/>
          </a:xfrm>
          <a:prstGeom prst="roundRect">
            <a:avLst>
              <a:gd name="adj" fmla="val 5000"/>
            </a:avLst>
          </a:prstGeom>
          <a:solidFill>
            <a:srgbClr val="F4F5F7"/>
          </a:solidFill>
          <a:ln w="12700">
            <a:solidFill>
              <a:srgbClr val="E4E6EA"/>
            </a:solidFill>
            <a:prstDash val="solid"/>
          </a:ln>
        </p:spPr>
        <p:txBody>
          <a:bodyPr/>
          <a:lstStyle/>
          <a:p>
            <a:endParaRPr lang="en-US"/>
          </a:p>
        </p:txBody>
      </p:sp>
      <p:sp>
        <p:nvSpPr>
          <p:cNvPr id="13" name="Text 11"/>
          <p:cNvSpPr txBox="1"/>
          <p:nvPr/>
        </p:nvSpPr>
        <p:spPr>
          <a:xfrm>
            <a:off x="6812280" y="2313432"/>
            <a:ext cx="2331720" cy="658368"/>
          </a:xfrm>
          <a:prstGeom prst="rect">
            <a:avLst/>
          </a:prstGeom>
          <a:noFill/>
          <a:ln/>
        </p:spPr>
        <p:txBody>
          <a:bodyPr wrap="square" lIns="0" tIns="0" rIns="0" bIns="0" rtlCol="0" anchor="ctr"/>
          <a:lstStyle/>
          <a:p>
            <a:pPr marL="0" indent="0" algn="ctr">
              <a:buNone/>
            </a:pPr>
            <a:r>
              <a:rPr lang="en-US" sz="4000" b="1" dirty="0">
                <a:solidFill>
                  <a:srgbClr val="C0392B"/>
                </a:solidFill>
                <a:latin typeface="Cambria" pitchFamily="34" charset="0"/>
                <a:ea typeface="Cambria" pitchFamily="34" charset="-122"/>
                <a:cs typeface="Cambria" pitchFamily="34" charset="-120"/>
              </a:rPr>
              <a:t>22.1%</a:t>
            </a:r>
            <a:endParaRPr lang="en-US" sz="4000" dirty="0"/>
          </a:p>
        </p:txBody>
      </p:sp>
      <p:sp>
        <p:nvSpPr>
          <p:cNvPr id="14" name="Text 12"/>
          <p:cNvSpPr txBox="1"/>
          <p:nvPr/>
        </p:nvSpPr>
        <p:spPr>
          <a:xfrm>
            <a:off x="6922008" y="2990088"/>
            <a:ext cx="2112264" cy="457200"/>
          </a:xfrm>
          <a:prstGeom prst="rect">
            <a:avLst/>
          </a:prstGeom>
          <a:noFill/>
          <a:ln/>
        </p:spPr>
        <p:txBody>
          <a:bodyPr wrap="square" lIns="0" tIns="0" rIns="0" bIns="0" rtlCol="0" anchor="ctr"/>
          <a:lstStyle/>
          <a:p>
            <a:pPr marL="0" indent="0" algn="ctr">
              <a:buNone/>
            </a:pPr>
            <a:r>
              <a:rPr lang="en-US" sz="1100" dirty="0">
                <a:solidFill>
                  <a:srgbClr val="5A6472"/>
                </a:solidFill>
                <a:latin typeface="Calibri" pitchFamily="34" charset="0"/>
                <a:ea typeface="Calibri" pitchFamily="34" charset="-122"/>
                <a:cs typeface="Calibri" pitchFamily="34" charset="-120"/>
              </a:rPr>
              <a:t>Missed failures — before</a:t>
            </a:r>
            <a:endParaRPr lang="en-US" sz="1100" dirty="0"/>
          </a:p>
        </p:txBody>
      </p:sp>
      <p:sp>
        <p:nvSpPr>
          <p:cNvPr id="15" name="Shape 13"/>
          <p:cNvSpPr/>
          <p:nvPr/>
        </p:nvSpPr>
        <p:spPr>
          <a:xfrm>
            <a:off x="9326880" y="2148840"/>
            <a:ext cx="2286000" cy="1463040"/>
          </a:xfrm>
          <a:prstGeom prst="roundRect">
            <a:avLst>
              <a:gd name="adj" fmla="val 5000"/>
            </a:avLst>
          </a:prstGeom>
          <a:solidFill>
            <a:srgbClr val="F4F5F7"/>
          </a:solidFill>
          <a:ln w="12700">
            <a:solidFill>
              <a:srgbClr val="E4E6EA"/>
            </a:solidFill>
            <a:prstDash val="solid"/>
          </a:ln>
        </p:spPr>
        <p:txBody>
          <a:bodyPr/>
          <a:lstStyle/>
          <a:p>
            <a:endParaRPr lang="en-US"/>
          </a:p>
        </p:txBody>
      </p:sp>
      <p:sp>
        <p:nvSpPr>
          <p:cNvPr id="16" name="Text 14"/>
          <p:cNvSpPr txBox="1"/>
          <p:nvPr/>
        </p:nvSpPr>
        <p:spPr>
          <a:xfrm>
            <a:off x="9326880" y="2313432"/>
            <a:ext cx="2286000" cy="658368"/>
          </a:xfrm>
          <a:prstGeom prst="rect">
            <a:avLst/>
          </a:prstGeom>
          <a:noFill/>
          <a:ln/>
        </p:spPr>
        <p:txBody>
          <a:bodyPr wrap="square" lIns="0" tIns="0" rIns="0" bIns="0" rtlCol="0" anchor="ctr"/>
          <a:lstStyle/>
          <a:p>
            <a:pPr marL="0" indent="0" algn="ctr">
              <a:buNone/>
            </a:pPr>
            <a:r>
              <a:rPr lang="en-US" sz="4000" b="1" dirty="0">
                <a:solidFill>
                  <a:srgbClr val="2E8B6E"/>
                </a:solidFill>
                <a:latin typeface="Cambria" pitchFamily="34" charset="0"/>
                <a:ea typeface="Cambria" pitchFamily="34" charset="-122"/>
                <a:cs typeface="Cambria" pitchFamily="34" charset="-120"/>
              </a:rPr>
              <a:t>5.9%</a:t>
            </a:r>
            <a:endParaRPr lang="en-US" sz="4000" dirty="0"/>
          </a:p>
        </p:txBody>
      </p:sp>
      <p:sp>
        <p:nvSpPr>
          <p:cNvPr id="17" name="Text 15"/>
          <p:cNvSpPr txBox="1"/>
          <p:nvPr/>
        </p:nvSpPr>
        <p:spPr>
          <a:xfrm>
            <a:off x="9436608" y="2990088"/>
            <a:ext cx="2066544" cy="457200"/>
          </a:xfrm>
          <a:prstGeom prst="rect">
            <a:avLst/>
          </a:prstGeom>
          <a:noFill/>
          <a:ln/>
        </p:spPr>
        <p:txBody>
          <a:bodyPr wrap="square" lIns="0" tIns="0" rIns="0" bIns="0" rtlCol="0" anchor="ctr"/>
          <a:lstStyle/>
          <a:p>
            <a:pPr marL="0" indent="0" algn="ctr">
              <a:buNone/>
            </a:pPr>
            <a:r>
              <a:rPr lang="en-US" sz="1100" dirty="0">
                <a:solidFill>
                  <a:srgbClr val="5A6472"/>
                </a:solidFill>
                <a:latin typeface="Calibri" pitchFamily="34" charset="0"/>
                <a:ea typeface="Calibri" pitchFamily="34" charset="-122"/>
                <a:cs typeface="Calibri" pitchFamily="34" charset="-120"/>
              </a:rPr>
              <a:t>Missed failures — after</a:t>
            </a:r>
            <a:endParaRPr lang="en-US" sz="1100" dirty="0"/>
          </a:p>
        </p:txBody>
      </p:sp>
      <p:pic>
        <p:nvPicPr>
          <p:cNvPr id="18" name="Image 0" descr="/home/claude/report_assets/gb_tuned_threshold_cm.png"/>
          <p:cNvPicPr>
            <a:picLocks noChangeAspect="1"/>
          </p:cNvPicPr>
          <p:nvPr/>
        </p:nvPicPr>
        <p:blipFill>
          <a:blip r:embed="rId3"/>
          <a:stretch>
            <a:fillRect/>
          </a:stretch>
        </p:blipFill>
        <p:spPr>
          <a:xfrm>
            <a:off x="548640" y="3840480"/>
            <a:ext cx="3017520" cy="2258568"/>
          </a:xfrm>
          <a:prstGeom prst="rect">
            <a:avLst/>
          </a:prstGeom>
        </p:spPr>
      </p:pic>
      <p:sp>
        <p:nvSpPr>
          <p:cNvPr id="19" name="Text 16"/>
          <p:cNvSpPr txBox="1"/>
          <p:nvPr/>
        </p:nvSpPr>
        <p:spPr>
          <a:xfrm>
            <a:off x="3931920" y="3931920"/>
            <a:ext cx="7680960" cy="292608"/>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What almost shipped</a:t>
            </a:r>
            <a:endParaRPr lang="en-US" sz="1400" dirty="0"/>
          </a:p>
        </p:txBody>
      </p:sp>
      <p:sp>
        <p:nvSpPr>
          <p:cNvPr id="20" name="Text 17"/>
          <p:cNvSpPr txBox="1"/>
          <p:nvPr/>
        </p:nvSpPr>
        <p:spPr>
          <a:xfrm>
            <a:off x="3931920" y="4315968"/>
            <a:ext cx="7680960" cy="1783080"/>
          </a:xfrm>
          <a:prstGeom prst="rect">
            <a:avLst/>
          </a:prstGeom>
          <a:noFill/>
          <a:ln/>
        </p:spPr>
        <p:txBody>
          <a:bodyPr wrap="square" lIns="0" tIns="0" rIns="0" bIns="0" rtlCol="0" anchor="ctr"/>
          <a:lstStyle/>
          <a:p>
            <a:pPr marL="0" indent="0">
              <a:lnSpc>
                <a:spcPts val="1900"/>
              </a:lnSpc>
              <a:spcAft>
                <a:spcPts val="1200"/>
              </a:spcAft>
              <a:buNone/>
            </a:pPr>
            <a:r>
              <a:rPr lang="en-US" sz="1250" dirty="0">
                <a:solidFill>
                  <a:srgbClr val="1A1C20"/>
                </a:solidFill>
                <a:latin typeface="Calibri" pitchFamily="34" charset="0"/>
                <a:ea typeface="Calibri" pitchFamily="34" charset="-122"/>
                <a:cs typeface="Calibri" pitchFamily="34" charset="-120"/>
              </a:rPr>
              <a:t>The champion model was saved to disk paired with its default-threshold metrics. The app would have loaded that metadata and run at 0.5 — quietly discarding every bit of the tuning above, at 78% recall instead of 94%.</a:t>
            </a:r>
            <a:endParaRPr lang="en-US" sz="1250" dirty="0"/>
          </a:p>
          <a:p>
            <a:pPr marL="0" indent="0">
              <a:lnSpc>
                <a:spcPts val="1900"/>
              </a:lnSpc>
              <a:spcAft>
                <a:spcPts val="1200"/>
              </a:spcAft>
              <a:buNone/>
            </a:pPr>
            <a:r>
              <a:rPr lang="en-US" sz="1250" b="1" dirty="0">
                <a:solidFill>
                  <a:srgbClr val="1A1C20"/>
                </a:solidFill>
                <a:latin typeface="Calibri" pitchFamily="34" charset="0"/>
                <a:ea typeface="Calibri" pitchFamily="34" charset="-122"/>
                <a:cs typeface="Calibri" pitchFamily="34" charset="-120"/>
              </a:rPr>
              <a:t>Fix: save the tuned threshold with the model, and assert in a test that the deployed threshold is never exactly 0.5.</a:t>
            </a:r>
            <a:endParaRPr lang="en-US" sz="1250" dirty="0"/>
          </a:p>
          <a:p>
            <a:pPr marL="0" indent="0">
              <a:lnSpc>
                <a:spcPts val="1900"/>
              </a:lnSpc>
              <a:buNone/>
            </a:pPr>
            <a:r>
              <a:rPr lang="en-US" sz="1250" i="1" dirty="0">
                <a:solidFill>
                  <a:srgbClr val="1A1C20"/>
                </a:solidFill>
                <a:latin typeface="Calibri" pitchFamily="34" charset="0"/>
                <a:ea typeface="Calibri" pitchFamily="34" charset="-122"/>
                <a:cs typeface="Calibri" pitchFamily="34" charset="-120"/>
              </a:rPr>
              <a:t>A model artifact is not just weights. Lose the threshold in the handoff to production and you silently undo the tuning.</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DEPLOYMENT</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From notebook to something a technician can use</a:t>
            </a:r>
            <a:endParaRPr lang="en-US" sz="3200" dirty="0"/>
          </a:p>
        </p:txBody>
      </p:sp>
      <p:sp>
        <p:nvSpPr>
          <p:cNvPr id="4" name="Shape 2"/>
          <p:cNvSpPr/>
          <p:nvPr/>
        </p:nvSpPr>
        <p:spPr>
          <a:xfrm>
            <a:off x="548640" y="1645920"/>
            <a:ext cx="3566160" cy="2377440"/>
          </a:xfrm>
          <a:prstGeom prst="roundRect">
            <a:avLst>
              <a:gd name="adj" fmla="val 3846"/>
            </a:avLst>
          </a:prstGeom>
          <a:solidFill>
            <a:srgbClr val="F4F5F7"/>
          </a:solidFill>
          <a:ln w="12700">
            <a:solidFill>
              <a:srgbClr val="E4E6EA"/>
            </a:solidFill>
            <a:prstDash val="solid"/>
          </a:ln>
        </p:spPr>
        <p:txBody>
          <a:bodyPr/>
          <a:lstStyle/>
          <a:p>
            <a:endParaRPr lang="en-US"/>
          </a:p>
        </p:txBody>
      </p:sp>
      <p:sp>
        <p:nvSpPr>
          <p:cNvPr id="5" name="Shape 3"/>
          <p:cNvSpPr/>
          <p:nvPr/>
        </p:nvSpPr>
        <p:spPr>
          <a:xfrm>
            <a:off x="822960" y="1874520"/>
            <a:ext cx="475488" cy="475488"/>
          </a:xfrm>
          <a:prstGeom prst="ellipse">
            <a:avLst/>
          </a:prstGeom>
          <a:solidFill>
            <a:srgbClr val="E8A33D"/>
          </a:solidFill>
          <a:ln/>
        </p:spPr>
        <p:txBody>
          <a:bodyPr/>
          <a:lstStyle/>
          <a:p>
            <a:endParaRPr lang="en-US"/>
          </a:p>
        </p:txBody>
      </p:sp>
      <p:sp>
        <p:nvSpPr>
          <p:cNvPr id="6" name="Text 4"/>
          <p:cNvSpPr txBox="1"/>
          <p:nvPr/>
        </p:nvSpPr>
        <p:spPr>
          <a:xfrm>
            <a:off x="822960" y="1970532"/>
            <a:ext cx="475488" cy="292608"/>
          </a:xfrm>
          <a:prstGeom prst="rect">
            <a:avLst/>
          </a:prstGeom>
          <a:noFill/>
          <a:ln/>
        </p:spPr>
        <p:txBody>
          <a:bodyPr wrap="square" lIns="0" tIns="0" rIns="0" bIns="0" rtlCol="0" anchor="ctr"/>
          <a:lstStyle/>
          <a:p>
            <a:pPr marL="0" indent="0" algn="ctr">
              <a:buNone/>
            </a:pPr>
            <a:r>
              <a:rPr lang="en-US" sz="1700" b="1" dirty="0">
                <a:solidFill>
                  <a:srgbClr val="1A1C20"/>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822960" y="2487168"/>
            <a:ext cx="3017520" cy="292608"/>
          </a:xfrm>
          <a:prstGeom prst="rect">
            <a:avLst/>
          </a:prstGeom>
          <a:noFill/>
          <a:ln/>
        </p:spPr>
        <p:txBody>
          <a:bodyPr wrap="square" lIns="0" tIns="0" rIns="0" bIns="0" rtlCol="0" anchor="ctr"/>
          <a:lstStyle/>
          <a:p>
            <a:pPr marL="0" indent="0">
              <a:buNone/>
            </a:pPr>
            <a:r>
              <a:rPr lang="en-US" sz="1500" b="1" dirty="0">
                <a:solidFill>
                  <a:srgbClr val="1A1C20"/>
                </a:solidFill>
                <a:latin typeface="Calibri" pitchFamily="34" charset="0"/>
                <a:ea typeface="Calibri" pitchFamily="34" charset="-122"/>
                <a:cs typeface="Calibri" pitchFamily="34" charset="-120"/>
              </a:rPr>
              <a:t>Single check</a:t>
            </a:r>
            <a:endParaRPr lang="en-US" sz="1500" dirty="0"/>
          </a:p>
        </p:txBody>
      </p:sp>
      <p:sp>
        <p:nvSpPr>
          <p:cNvPr id="8" name="Text 6"/>
          <p:cNvSpPr txBox="1"/>
          <p:nvPr/>
        </p:nvSpPr>
        <p:spPr>
          <a:xfrm>
            <a:off x="822960" y="2852928"/>
            <a:ext cx="3017520" cy="10515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Enter readings, get a probability, a risk tier, and a recommended action. Warns when an input falls outside the range the model was trained on.</a:t>
            </a:r>
            <a:endParaRPr lang="en-US" sz="1200" dirty="0"/>
          </a:p>
        </p:txBody>
      </p:sp>
      <p:sp>
        <p:nvSpPr>
          <p:cNvPr id="9" name="Shape 7"/>
          <p:cNvSpPr/>
          <p:nvPr/>
        </p:nvSpPr>
        <p:spPr>
          <a:xfrm>
            <a:off x="4297680" y="1645920"/>
            <a:ext cx="3566160" cy="2377440"/>
          </a:xfrm>
          <a:prstGeom prst="roundRect">
            <a:avLst>
              <a:gd name="adj" fmla="val 3846"/>
            </a:avLst>
          </a:prstGeom>
          <a:solidFill>
            <a:srgbClr val="F4F5F7"/>
          </a:solidFill>
          <a:ln w="12700">
            <a:solidFill>
              <a:srgbClr val="E4E6EA"/>
            </a:solidFill>
            <a:prstDash val="solid"/>
          </a:ln>
        </p:spPr>
        <p:txBody>
          <a:bodyPr/>
          <a:lstStyle/>
          <a:p>
            <a:endParaRPr lang="en-US"/>
          </a:p>
        </p:txBody>
      </p:sp>
      <p:sp>
        <p:nvSpPr>
          <p:cNvPr id="10" name="Shape 8"/>
          <p:cNvSpPr/>
          <p:nvPr/>
        </p:nvSpPr>
        <p:spPr>
          <a:xfrm>
            <a:off x="4572000" y="1874520"/>
            <a:ext cx="475488" cy="475488"/>
          </a:xfrm>
          <a:prstGeom prst="ellipse">
            <a:avLst/>
          </a:prstGeom>
          <a:solidFill>
            <a:srgbClr val="E8A33D"/>
          </a:solidFill>
          <a:ln/>
        </p:spPr>
        <p:txBody>
          <a:bodyPr/>
          <a:lstStyle/>
          <a:p>
            <a:endParaRPr lang="en-US"/>
          </a:p>
        </p:txBody>
      </p:sp>
      <p:sp>
        <p:nvSpPr>
          <p:cNvPr id="11" name="Text 9"/>
          <p:cNvSpPr txBox="1"/>
          <p:nvPr/>
        </p:nvSpPr>
        <p:spPr>
          <a:xfrm>
            <a:off x="4572000" y="1970532"/>
            <a:ext cx="475488" cy="292608"/>
          </a:xfrm>
          <a:prstGeom prst="rect">
            <a:avLst/>
          </a:prstGeom>
          <a:noFill/>
          <a:ln/>
        </p:spPr>
        <p:txBody>
          <a:bodyPr wrap="square" lIns="0" tIns="0" rIns="0" bIns="0" rtlCol="0" anchor="ctr"/>
          <a:lstStyle/>
          <a:p>
            <a:pPr marL="0" indent="0" algn="ctr">
              <a:buNone/>
            </a:pPr>
            <a:r>
              <a:rPr lang="en-US" sz="1700" b="1" dirty="0">
                <a:solidFill>
                  <a:srgbClr val="1A1C20"/>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4572000" y="2487168"/>
            <a:ext cx="3017520" cy="292608"/>
          </a:xfrm>
          <a:prstGeom prst="rect">
            <a:avLst/>
          </a:prstGeom>
          <a:noFill/>
          <a:ln/>
        </p:spPr>
        <p:txBody>
          <a:bodyPr wrap="square" lIns="0" tIns="0" rIns="0" bIns="0" rtlCol="0" anchor="ctr"/>
          <a:lstStyle/>
          <a:p>
            <a:pPr marL="0" indent="0">
              <a:buNone/>
            </a:pPr>
            <a:r>
              <a:rPr lang="en-US" sz="1500" b="1" dirty="0">
                <a:solidFill>
                  <a:srgbClr val="1A1C20"/>
                </a:solidFill>
                <a:latin typeface="Calibri" pitchFamily="34" charset="0"/>
                <a:ea typeface="Calibri" pitchFamily="34" charset="-122"/>
                <a:cs typeface="Calibri" pitchFamily="34" charset="-120"/>
              </a:rPr>
              <a:t>Batch scoring</a:t>
            </a:r>
            <a:endParaRPr lang="en-US" sz="1500" dirty="0"/>
          </a:p>
        </p:txBody>
      </p:sp>
      <p:sp>
        <p:nvSpPr>
          <p:cNvPr id="13" name="Text 11"/>
          <p:cNvSpPr txBox="1"/>
          <p:nvPr/>
        </p:nvSpPr>
        <p:spPr>
          <a:xfrm>
            <a:off x="4572000" y="2852928"/>
            <a:ext cx="3017520" cy="10515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Upload a CSV of machines, score them in one pass, download results — the realistic workflow for a shift's worth of readings.</a:t>
            </a:r>
            <a:endParaRPr lang="en-US" sz="1200" dirty="0"/>
          </a:p>
        </p:txBody>
      </p:sp>
      <p:sp>
        <p:nvSpPr>
          <p:cNvPr id="14" name="Shape 12"/>
          <p:cNvSpPr/>
          <p:nvPr/>
        </p:nvSpPr>
        <p:spPr>
          <a:xfrm>
            <a:off x="8046720" y="1645920"/>
            <a:ext cx="3566160" cy="2377440"/>
          </a:xfrm>
          <a:prstGeom prst="roundRect">
            <a:avLst>
              <a:gd name="adj" fmla="val 3846"/>
            </a:avLst>
          </a:prstGeom>
          <a:solidFill>
            <a:srgbClr val="F4F5F7"/>
          </a:solidFill>
          <a:ln w="12700">
            <a:solidFill>
              <a:srgbClr val="E4E6EA"/>
            </a:solidFill>
            <a:prstDash val="solid"/>
          </a:ln>
        </p:spPr>
        <p:txBody>
          <a:bodyPr/>
          <a:lstStyle/>
          <a:p>
            <a:endParaRPr lang="en-US"/>
          </a:p>
        </p:txBody>
      </p:sp>
      <p:sp>
        <p:nvSpPr>
          <p:cNvPr id="15" name="Shape 13"/>
          <p:cNvSpPr/>
          <p:nvPr/>
        </p:nvSpPr>
        <p:spPr>
          <a:xfrm>
            <a:off x="8321040" y="1874520"/>
            <a:ext cx="475488" cy="475488"/>
          </a:xfrm>
          <a:prstGeom prst="ellipse">
            <a:avLst/>
          </a:prstGeom>
          <a:solidFill>
            <a:srgbClr val="E8A33D"/>
          </a:solidFill>
          <a:ln/>
        </p:spPr>
        <p:txBody>
          <a:bodyPr/>
          <a:lstStyle/>
          <a:p>
            <a:endParaRPr lang="en-US"/>
          </a:p>
        </p:txBody>
      </p:sp>
      <p:sp>
        <p:nvSpPr>
          <p:cNvPr id="16" name="Text 14"/>
          <p:cNvSpPr txBox="1"/>
          <p:nvPr/>
        </p:nvSpPr>
        <p:spPr>
          <a:xfrm>
            <a:off x="8321040" y="1970532"/>
            <a:ext cx="475488" cy="292608"/>
          </a:xfrm>
          <a:prstGeom prst="rect">
            <a:avLst/>
          </a:prstGeom>
          <a:noFill/>
          <a:ln/>
        </p:spPr>
        <p:txBody>
          <a:bodyPr wrap="square" lIns="0" tIns="0" rIns="0" bIns="0" rtlCol="0" anchor="ctr"/>
          <a:lstStyle/>
          <a:p>
            <a:pPr marL="0" indent="0" algn="ctr">
              <a:buNone/>
            </a:pPr>
            <a:r>
              <a:rPr lang="en-US" sz="1700" b="1" dirty="0">
                <a:solidFill>
                  <a:srgbClr val="1A1C20"/>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8321040" y="2487168"/>
            <a:ext cx="3017520" cy="292608"/>
          </a:xfrm>
          <a:prstGeom prst="rect">
            <a:avLst/>
          </a:prstGeom>
          <a:noFill/>
          <a:ln/>
        </p:spPr>
        <p:txBody>
          <a:bodyPr wrap="square" lIns="0" tIns="0" rIns="0" bIns="0" rtlCol="0" anchor="ctr"/>
          <a:lstStyle/>
          <a:p>
            <a:pPr marL="0" indent="0">
              <a:buNone/>
            </a:pPr>
            <a:r>
              <a:rPr lang="en-US" sz="1500" b="1" dirty="0">
                <a:solidFill>
                  <a:srgbClr val="1A1C20"/>
                </a:solidFill>
                <a:latin typeface="Calibri" pitchFamily="34" charset="0"/>
                <a:ea typeface="Calibri" pitchFamily="34" charset="-122"/>
                <a:cs typeface="Calibri" pitchFamily="34" charset="-120"/>
              </a:rPr>
              <a:t>Monitoring</a:t>
            </a:r>
            <a:endParaRPr lang="en-US" sz="1500" dirty="0"/>
          </a:p>
        </p:txBody>
      </p:sp>
      <p:sp>
        <p:nvSpPr>
          <p:cNvPr id="18" name="Text 16"/>
          <p:cNvSpPr txBox="1"/>
          <p:nvPr/>
        </p:nvSpPr>
        <p:spPr>
          <a:xfrm>
            <a:off x="8321040" y="2852928"/>
            <a:ext cx="3017520" cy="10515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Every prediction is logged with timestamp, model version, and tier. Alert-rate charts are the simplest available drift signal.</a:t>
            </a:r>
            <a:endParaRPr lang="en-US" sz="1200" dirty="0"/>
          </a:p>
        </p:txBody>
      </p:sp>
      <p:sp>
        <p:nvSpPr>
          <p:cNvPr id="19" name="Text 17"/>
          <p:cNvSpPr txBox="1"/>
          <p:nvPr/>
        </p:nvSpPr>
        <p:spPr>
          <a:xfrm>
            <a:off x="548640" y="4315968"/>
            <a:ext cx="11064240" cy="292608"/>
          </a:xfrm>
          <a:prstGeom prst="rect">
            <a:avLst/>
          </a:prstGeom>
          <a:noFill/>
          <a:ln/>
        </p:spPr>
        <p:txBody>
          <a:bodyPr wrap="square" lIns="0" tIns="0" rIns="0" bIns="0" rtlCol="0" anchor="ctr"/>
          <a:lstStyle/>
          <a:p>
            <a:pPr marL="0" indent="0">
              <a:buNone/>
            </a:pPr>
            <a:r>
              <a:rPr lang="en-US" sz="1400" b="1" dirty="0">
                <a:solidFill>
                  <a:srgbClr val="1A1C20"/>
                </a:solidFill>
                <a:latin typeface="Calibri" pitchFamily="34" charset="0"/>
                <a:ea typeface="Calibri" pitchFamily="34" charset="-122"/>
                <a:cs typeface="Calibri" pitchFamily="34" charset="-120"/>
              </a:rPr>
              <a:t>The whole pipeline closes a loop</a:t>
            </a:r>
            <a:endParaRPr lang="en-US" sz="1400" dirty="0"/>
          </a:p>
        </p:txBody>
      </p:sp>
      <p:sp>
        <p:nvSpPr>
          <p:cNvPr id="20" name="Shape 18"/>
          <p:cNvSpPr/>
          <p:nvPr/>
        </p:nvSpPr>
        <p:spPr>
          <a:xfrm>
            <a:off x="548640" y="4709160"/>
            <a:ext cx="11064240" cy="1188720"/>
          </a:xfrm>
          <a:prstGeom prst="roundRect">
            <a:avLst>
              <a:gd name="adj" fmla="val 6154"/>
            </a:avLst>
          </a:prstGeom>
          <a:solidFill>
            <a:srgbClr val="2B2D33"/>
          </a:solidFill>
          <a:ln/>
        </p:spPr>
        <p:txBody>
          <a:bodyPr/>
          <a:lstStyle/>
          <a:p>
            <a:endParaRPr lang="en-US"/>
          </a:p>
        </p:txBody>
      </p:sp>
      <p:sp>
        <p:nvSpPr>
          <p:cNvPr id="21" name="Text 19"/>
          <p:cNvSpPr txBox="1"/>
          <p:nvPr/>
        </p:nvSpPr>
        <p:spPr>
          <a:xfrm>
            <a:off x="822960" y="4956048"/>
            <a:ext cx="105156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SQL data layer  →  feature pipeline  →  trained models  →  Streamlit app  →  prediction log  →  back into SQL</a:t>
            </a:r>
            <a:endParaRPr lang="en-US" sz="1400" dirty="0"/>
          </a:p>
        </p:txBody>
      </p:sp>
      <p:sp>
        <p:nvSpPr>
          <p:cNvPr id="22" name="Text 20"/>
          <p:cNvSpPr txBox="1"/>
          <p:nvPr/>
        </p:nvSpPr>
        <p:spPr>
          <a:xfrm>
            <a:off x="822960" y="5349240"/>
            <a:ext cx="10515600" cy="320040"/>
          </a:xfrm>
          <a:prstGeom prst="rect">
            <a:avLst/>
          </a:prstGeom>
          <a:noFill/>
          <a:ln/>
        </p:spPr>
        <p:txBody>
          <a:bodyPr wrap="square" lIns="0" tIns="0" rIns="0" bIns="0" rtlCol="0" anchor="ctr"/>
          <a:lstStyle/>
          <a:p>
            <a:pPr marL="0" indent="0" algn="ctr">
              <a:buNone/>
            </a:pPr>
            <a:r>
              <a:rPr lang="en-US" sz="1150" i="1" dirty="0">
                <a:solidFill>
                  <a:srgbClr val="A8AEB9"/>
                </a:solidFill>
                <a:latin typeface="Calibri" pitchFamily="34" charset="0"/>
                <a:ea typeface="Calibri" pitchFamily="34" charset="-122"/>
                <a:cs typeface="Calibri" pitchFamily="34" charset="-120"/>
              </a:rPr>
              <a:t>The app's log uses the same column names as the PredictionHistory table — it loads straight back in with no reshaping.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ENGINEERING PRACTICE</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Both bugs are now tests</a:t>
            </a:r>
            <a:endParaRPr lang="en-US" sz="3200" dirty="0"/>
          </a:p>
        </p:txBody>
      </p:sp>
      <p:sp>
        <p:nvSpPr>
          <p:cNvPr id="4" name="Shape 2"/>
          <p:cNvSpPr/>
          <p:nvPr/>
        </p:nvSpPr>
        <p:spPr>
          <a:xfrm>
            <a:off x="548640" y="1645920"/>
            <a:ext cx="6675120" cy="2743200"/>
          </a:xfrm>
          <a:prstGeom prst="roundRect">
            <a:avLst>
              <a:gd name="adj" fmla="val 3333"/>
            </a:avLst>
          </a:prstGeom>
          <a:solidFill>
            <a:srgbClr val="F4F5F7"/>
          </a:solidFill>
          <a:ln w="12700">
            <a:solidFill>
              <a:srgbClr val="E4E6EA"/>
            </a:solidFill>
            <a:prstDash val="solid"/>
          </a:ln>
        </p:spPr>
        <p:txBody>
          <a:bodyPr/>
          <a:lstStyle/>
          <a:p>
            <a:endParaRPr lang="en-US"/>
          </a:p>
        </p:txBody>
      </p:sp>
      <p:sp>
        <p:nvSpPr>
          <p:cNvPr id="5" name="Text 3"/>
          <p:cNvSpPr txBox="1"/>
          <p:nvPr/>
        </p:nvSpPr>
        <p:spPr>
          <a:xfrm>
            <a:off x="822960" y="1847088"/>
            <a:ext cx="6126480" cy="320040"/>
          </a:xfrm>
          <a:prstGeom prst="rect">
            <a:avLst/>
          </a:prstGeom>
          <a:noFill/>
          <a:ln/>
        </p:spPr>
        <p:txBody>
          <a:bodyPr wrap="square" lIns="0" tIns="0" rIns="0" bIns="0" rtlCol="0" anchor="ctr"/>
          <a:lstStyle/>
          <a:p>
            <a:pPr marL="0" indent="0">
              <a:buNone/>
            </a:pPr>
            <a:r>
              <a:rPr lang="en-US" sz="1500" b="1" dirty="0">
                <a:solidFill>
                  <a:srgbClr val="1A1C20"/>
                </a:solidFill>
                <a:latin typeface="Calibri" pitchFamily="34" charset="0"/>
                <a:ea typeface="Calibri" pitchFamily="34" charset="-122"/>
                <a:cs typeface="Calibri" pitchFamily="34" charset="-120"/>
              </a:rPr>
              <a:t>23 tests, all passing</a:t>
            </a:r>
            <a:endParaRPr lang="en-US" sz="1500" dirty="0"/>
          </a:p>
        </p:txBody>
      </p:sp>
      <p:sp>
        <p:nvSpPr>
          <p:cNvPr id="6" name="Text 4"/>
          <p:cNvSpPr txBox="1"/>
          <p:nvPr/>
        </p:nvSpPr>
        <p:spPr>
          <a:xfrm>
            <a:off x="822960" y="2267712"/>
            <a:ext cx="6126480" cy="196596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1A1C20"/>
                </a:solidFill>
                <a:latin typeface="Calibri" pitchFamily="34" charset="0"/>
                <a:ea typeface="Calibri" pitchFamily="34" charset="-122"/>
                <a:cs typeface="Calibri" pitchFamily="34" charset="-120"/>
              </a:rPr>
              <a:t>Feature formulas checked against hand-computed physics values</a:t>
            </a:r>
            <a:endParaRPr lang="en-US" sz="1250" dirty="0"/>
          </a:p>
          <a:p>
            <a:pPr marL="342900" indent="-342900">
              <a:spcAft>
                <a:spcPts val="900"/>
              </a:spcAft>
              <a:buSzPct val="100000"/>
              <a:buChar char="•"/>
            </a:pPr>
            <a:r>
              <a:rPr lang="en-US" sz="1250" b="1" dirty="0">
                <a:solidFill>
                  <a:srgbClr val="1A1C20"/>
                </a:solidFill>
                <a:latin typeface="Calibri" pitchFamily="34" charset="0"/>
                <a:ea typeface="Calibri" pitchFamily="34" charset="-122"/>
                <a:cs typeface="Calibri" pitchFamily="34" charset="-120"/>
              </a:rPr>
              <a:t>An assertion that the failure-mode flags never enter the feature list</a:t>
            </a:r>
            <a:endParaRPr lang="en-US" sz="1250" dirty="0"/>
          </a:p>
          <a:p>
            <a:pPr marL="342900" indent="-342900">
              <a:spcAft>
                <a:spcPts val="900"/>
              </a:spcAft>
              <a:buSzPct val="100000"/>
              <a:buChar char="•"/>
            </a:pPr>
            <a:r>
              <a:rPr lang="en-US" sz="1250" b="1" dirty="0">
                <a:solidFill>
                  <a:srgbClr val="1A1C20"/>
                </a:solidFill>
                <a:latin typeface="Calibri" pitchFamily="34" charset="0"/>
                <a:ea typeface="Calibri" pitchFamily="34" charset="-122"/>
                <a:cs typeface="Calibri" pitchFamily="34" charset="-120"/>
              </a:rPr>
              <a:t>An assertion that the deployed threshold is never exactly 0.5</a:t>
            </a:r>
            <a:endParaRPr lang="en-US" sz="1250" dirty="0"/>
          </a:p>
          <a:p>
            <a:pPr marL="342900" indent="-342900">
              <a:spcAft>
                <a:spcPts val="900"/>
              </a:spcAft>
              <a:buSzPct val="100000"/>
              <a:buChar char="•"/>
            </a:pPr>
            <a:r>
              <a:rPr lang="en-US" sz="1250" dirty="0">
                <a:solidFill>
                  <a:srgbClr val="1A1C20"/>
                </a:solidFill>
                <a:latin typeface="Calibri" pitchFamily="34" charset="0"/>
                <a:ea typeface="Calibri" pitchFamily="34" charset="-122"/>
                <a:cs typeface="Calibri" pitchFamily="34" charset="-120"/>
              </a:rPr>
              <a:t>Metric correctness on constructed edge cases</a:t>
            </a:r>
            <a:endParaRPr lang="en-US" sz="1250" dirty="0"/>
          </a:p>
          <a:p>
            <a:pPr marL="342900" indent="-342900">
              <a:buSzPct val="100000"/>
              <a:buChar char="•"/>
            </a:pPr>
            <a:r>
              <a:rPr lang="en-US" sz="1250" dirty="0">
                <a:solidFill>
                  <a:srgbClr val="1A1C20"/>
                </a:solidFill>
                <a:latin typeface="Calibri" pitchFamily="34" charset="0"/>
                <a:ea typeface="Calibri" pitchFamily="34" charset="-122"/>
                <a:cs typeface="Calibri" pitchFamily="34" charset="-120"/>
              </a:rPr>
              <a:t>A headless UI test driving a full prediction through the app</a:t>
            </a:r>
            <a:endParaRPr lang="en-US" sz="1250" dirty="0"/>
          </a:p>
        </p:txBody>
      </p:sp>
      <p:sp>
        <p:nvSpPr>
          <p:cNvPr id="7" name="Shape 5"/>
          <p:cNvSpPr/>
          <p:nvPr/>
        </p:nvSpPr>
        <p:spPr>
          <a:xfrm>
            <a:off x="7406640" y="1645920"/>
            <a:ext cx="4206240" cy="2743200"/>
          </a:xfrm>
          <a:prstGeom prst="roundRect">
            <a:avLst>
              <a:gd name="adj" fmla="val 3333"/>
            </a:avLst>
          </a:prstGeom>
          <a:solidFill>
            <a:srgbClr val="F4F5F7"/>
          </a:solidFill>
          <a:ln w="12700">
            <a:solidFill>
              <a:srgbClr val="E4E6EA"/>
            </a:solidFill>
            <a:prstDash val="solid"/>
          </a:ln>
        </p:spPr>
        <p:txBody>
          <a:bodyPr/>
          <a:lstStyle/>
          <a:p>
            <a:endParaRPr lang="en-US"/>
          </a:p>
        </p:txBody>
      </p:sp>
      <p:sp>
        <p:nvSpPr>
          <p:cNvPr id="8" name="Text 6"/>
          <p:cNvSpPr txBox="1"/>
          <p:nvPr/>
        </p:nvSpPr>
        <p:spPr>
          <a:xfrm>
            <a:off x="7680960" y="1847088"/>
            <a:ext cx="3657600" cy="320040"/>
          </a:xfrm>
          <a:prstGeom prst="rect">
            <a:avLst/>
          </a:prstGeom>
          <a:noFill/>
          <a:ln/>
        </p:spPr>
        <p:txBody>
          <a:bodyPr wrap="square" lIns="0" tIns="0" rIns="0" bIns="0" rtlCol="0" anchor="ctr"/>
          <a:lstStyle/>
          <a:p>
            <a:pPr marL="0" indent="0">
              <a:buNone/>
            </a:pPr>
            <a:r>
              <a:rPr lang="en-US" sz="1500" b="1" dirty="0">
                <a:solidFill>
                  <a:srgbClr val="1A1C20"/>
                </a:solidFill>
                <a:latin typeface="Calibri" pitchFamily="34" charset="0"/>
                <a:ea typeface="Calibri" pitchFamily="34" charset="-122"/>
                <a:cs typeface="Calibri" pitchFamily="34" charset="-120"/>
              </a:rPr>
              <a:t>One source of truth</a:t>
            </a:r>
            <a:endParaRPr lang="en-US" sz="1500" dirty="0"/>
          </a:p>
        </p:txBody>
      </p:sp>
      <p:sp>
        <p:nvSpPr>
          <p:cNvPr id="9" name="Text 7"/>
          <p:cNvSpPr txBox="1"/>
          <p:nvPr/>
        </p:nvSpPr>
        <p:spPr>
          <a:xfrm>
            <a:off x="7680960" y="2267712"/>
            <a:ext cx="3657600" cy="77724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Feature engineering lives in one module. The notebook, the app, and the tests all import it.</a:t>
            </a:r>
            <a:endParaRPr lang="en-US" sz="1250" dirty="0"/>
          </a:p>
        </p:txBody>
      </p:sp>
      <p:sp>
        <p:nvSpPr>
          <p:cNvPr id="10" name="Text 8"/>
          <p:cNvSpPr txBox="1"/>
          <p:nvPr/>
        </p:nvSpPr>
        <p:spPr>
          <a:xfrm>
            <a:off x="7680960" y="3063240"/>
            <a:ext cx="3657600" cy="118872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Reimplementing it in the app is the standard route to training/serving skew — where the model quietly gets differently-computed features at inference time. One function makes that impossible.</a:t>
            </a:r>
            <a:endParaRPr lang="en-US" sz="1200" dirty="0"/>
          </a:p>
        </p:txBody>
      </p:sp>
      <p:sp>
        <p:nvSpPr>
          <p:cNvPr id="11" name="Text 9"/>
          <p:cNvSpPr txBox="1"/>
          <p:nvPr/>
        </p:nvSpPr>
        <p:spPr>
          <a:xfrm>
            <a:off x="548640" y="4709160"/>
            <a:ext cx="11064240" cy="77724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Also shipped: SQL schema with 12 analytical queries (JOINs, CTEs, window functions)  ·  Dockerfile with layer-cached dependencies and a healthcheck  ·  versioned model artifacts carrying their own feature list and threshold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LIMITATIONS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marL="0" indent="0">
              <a:buNone/>
            </a:pPr>
            <a:r>
              <a:rPr lang="en-US" sz="3200" b="1" dirty="0">
                <a:solidFill>
                  <a:srgbClr val="1A1C20"/>
                </a:solidFill>
                <a:latin typeface="Cambria" pitchFamily="34" charset="0"/>
                <a:ea typeface="Cambria" pitchFamily="34" charset="-122"/>
                <a:cs typeface="Cambria" pitchFamily="34" charset="-120"/>
              </a:rPr>
              <a:t>What these numbers do not prove</a:t>
            </a:r>
            <a:endParaRPr lang="en-US" sz="3200" dirty="0"/>
          </a:p>
        </p:txBody>
      </p:sp>
      <p:sp>
        <p:nvSpPr>
          <p:cNvPr id="4" name="Shape 2"/>
          <p:cNvSpPr/>
          <p:nvPr/>
        </p:nvSpPr>
        <p:spPr>
          <a:xfrm>
            <a:off x="548640" y="1645920"/>
            <a:ext cx="11064240" cy="987552"/>
          </a:xfrm>
          <a:prstGeom prst="roundRect">
            <a:avLst>
              <a:gd name="adj" fmla="val 7407"/>
            </a:avLst>
          </a:prstGeom>
          <a:solidFill>
            <a:srgbClr val="F4F5F7"/>
          </a:solidFill>
          <a:ln w="12700">
            <a:solidFill>
              <a:srgbClr val="E4E6EA"/>
            </a:solidFill>
            <a:prstDash val="solid"/>
          </a:ln>
        </p:spPr>
        <p:txBody>
          <a:bodyPr/>
          <a:lstStyle/>
          <a:p>
            <a:endParaRPr lang="en-US"/>
          </a:p>
        </p:txBody>
      </p:sp>
      <p:sp>
        <p:nvSpPr>
          <p:cNvPr id="5" name="Text 3"/>
          <p:cNvSpPr txBox="1"/>
          <p:nvPr/>
        </p:nvSpPr>
        <p:spPr>
          <a:xfrm>
            <a:off x="822960" y="1773936"/>
            <a:ext cx="3931920" cy="292608"/>
          </a:xfrm>
          <a:prstGeom prst="rect">
            <a:avLst/>
          </a:prstGeom>
          <a:noFill/>
          <a:ln/>
        </p:spPr>
        <p:txBody>
          <a:bodyPr wrap="square" lIns="0" tIns="0" rIns="0" bIns="0" rtlCol="0" anchor="ctr"/>
          <a:lstStyle/>
          <a:p>
            <a:pPr marL="0" indent="0">
              <a:buNone/>
            </a:pPr>
            <a:r>
              <a:rPr lang="en-US" sz="1350" b="1" dirty="0">
                <a:solidFill>
                  <a:srgbClr val="1A1C20"/>
                </a:solidFill>
                <a:latin typeface="Calibri" pitchFamily="34" charset="0"/>
                <a:ea typeface="Calibri" pitchFamily="34" charset="-122"/>
                <a:cs typeface="Calibri" pitchFamily="34" charset="-120"/>
              </a:rPr>
              <a:t>The dataset is synthetic</a:t>
            </a:r>
            <a:endParaRPr lang="en-US" sz="1350" dirty="0"/>
          </a:p>
        </p:txBody>
      </p:sp>
      <p:sp>
        <p:nvSpPr>
          <p:cNvPr id="6" name="Text 4"/>
          <p:cNvSpPr txBox="1"/>
          <p:nvPr/>
        </p:nvSpPr>
        <p:spPr>
          <a:xfrm>
            <a:off x="822960" y="2103120"/>
            <a:ext cx="10515600" cy="45720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Strong metrics validate the pipeline and methodology — not real-world industrial reliability. This is not a certified safety system.</a:t>
            </a:r>
            <a:endParaRPr lang="en-US" sz="1200" dirty="0"/>
          </a:p>
        </p:txBody>
      </p:sp>
      <p:sp>
        <p:nvSpPr>
          <p:cNvPr id="7" name="Shape 5"/>
          <p:cNvSpPr/>
          <p:nvPr/>
        </p:nvSpPr>
        <p:spPr>
          <a:xfrm>
            <a:off x="548640" y="2724912"/>
            <a:ext cx="11064240" cy="987552"/>
          </a:xfrm>
          <a:prstGeom prst="roundRect">
            <a:avLst>
              <a:gd name="adj" fmla="val 7407"/>
            </a:avLst>
          </a:prstGeom>
          <a:solidFill>
            <a:srgbClr val="F4F5F7"/>
          </a:solidFill>
          <a:ln w="12700">
            <a:solidFill>
              <a:srgbClr val="E4E6EA"/>
            </a:solidFill>
            <a:prstDash val="solid"/>
          </a:ln>
        </p:spPr>
        <p:txBody>
          <a:bodyPr/>
          <a:lstStyle/>
          <a:p>
            <a:endParaRPr lang="en-US"/>
          </a:p>
        </p:txBody>
      </p:sp>
      <p:sp>
        <p:nvSpPr>
          <p:cNvPr id="8" name="Text 6"/>
          <p:cNvSpPr txBox="1"/>
          <p:nvPr/>
        </p:nvSpPr>
        <p:spPr>
          <a:xfrm>
            <a:off x="822960" y="2852928"/>
            <a:ext cx="3931920" cy="292608"/>
          </a:xfrm>
          <a:prstGeom prst="rect">
            <a:avLst/>
          </a:prstGeom>
          <a:noFill/>
          <a:ln/>
        </p:spPr>
        <p:txBody>
          <a:bodyPr wrap="square" lIns="0" tIns="0" rIns="0" bIns="0" rtlCol="0" anchor="ctr"/>
          <a:lstStyle/>
          <a:p>
            <a:pPr marL="0" indent="0">
              <a:buNone/>
            </a:pPr>
            <a:r>
              <a:rPr lang="en-US" sz="1350" b="1" dirty="0">
                <a:solidFill>
                  <a:srgbClr val="1A1C20"/>
                </a:solidFill>
                <a:latin typeface="Calibri" pitchFamily="34" charset="0"/>
                <a:ea typeface="Calibri" pitchFamily="34" charset="-122"/>
                <a:cs typeface="Calibri" pitchFamily="34" charset="-120"/>
              </a:rPr>
              <a:t>No real temporal structure</a:t>
            </a:r>
            <a:endParaRPr lang="en-US" sz="1350" dirty="0"/>
          </a:p>
        </p:txBody>
      </p:sp>
      <p:sp>
        <p:nvSpPr>
          <p:cNvPr id="9" name="Text 7"/>
          <p:cNvSpPr txBox="1"/>
          <p:nvPr/>
        </p:nvSpPr>
        <p:spPr>
          <a:xfrm>
            <a:off x="822960" y="3182112"/>
            <a:ext cx="10515600" cy="45720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Records are independent snapshots, not per-machine time series. Genuine predictive maintenance tracks degradation over time; this data cannot support that.</a:t>
            </a:r>
            <a:endParaRPr lang="en-US" sz="1200" dirty="0"/>
          </a:p>
        </p:txBody>
      </p:sp>
      <p:sp>
        <p:nvSpPr>
          <p:cNvPr id="10" name="Shape 8"/>
          <p:cNvSpPr/>
          <p:nvPr/>
        </p:nvSpPr>
        <p:spPr>
          <a:xfrm>
            <a:off x="548640" y="3803904"/>
            <a:ext cx="11064240" cy="987552"/>
          </a:xfrm>
          <a:prstGeom prst="roundRect">
            <a:avLst>
              <a:gd name="adj" fmla="val 7407"/>
            </a:avLst>
          </a:prstGeom>
          <a:solidFill>
            <a:srgbClr val="F4F5F7"/>
          </a:solidFill>
          <a:ln w="12700">
            <a:solidFill>
              <a:srgbClr val="E4E6EA"/>
            </a:solidFill>
            <a:prstDash val="solid"/>
          </a:ln>
        </p:spPr>
        <p:txBody>
          <a:bodyPr/>
          <a:lstStyle/>
          <a:p>
            <a:endParaRPr lang="en-US"/>
          </a:p>
        </p:txBody>
      </p:sp>
      <p:sp>
        <p:nvSpPr>
          <p:cNvPr id="11" name="Text 9"/>
          <p:cNvSpPr txBox="1"/>
          <p:nvPr/>
        </p:nvSpPr>
        <p:spPr>
          <a:xfrm>
            <a:off x="822960" y="3931920"/>
            <a:ext cx="3931920" cy="292608"/>
          </a:xfrm>
          <a:prstGeom prst="rect">
            <a:avLst/>
          </a:prstGeom>
          <a:noFill/>
          <a:ln/>
        </p:spPr>
        <p:txBody>
          <a:bodyPr wrap="square" lIns="0" tIns="0" rIns="0" bIns="0" rtlCol="0" anchor="ctr"/>
          <a:lstStyle/>
          <a:p>
            <a:pPr marL="0" indent="0">
              <a:buNone/>
            </a:pPr>
            <a:r>
              <a:rPr lang="en-US" sz="1350" b="1" dirty="0">
                <a:solidFill>
                  <a:srgbClr val="1A1C20"/>
                </a:solidFill>
                <a:latin typeface="Calibri" pitchFamily="34" charset="0"/>
                <a:ea typeface="Calibri" pitchFamily="34" charset="-122"/>
                <a:cs typeface="Calibri" pitchFamily="34" charset="-120"/>
              </a:rPr>
              <a:t>Random failures are unpredictable</a:t>
            </a:r>
            <a:endParaRPr lang="en-US" sz="1350" dirty="0"/>
          </a:p>
        </p:txBody>
      </p:sp>
      <p:sp>
        <p:nvSpPr>
          <p:cNvPr id="12" name="Text 10"/>
          <p:cNvSpPr txBox="1"/>
          <p:nvPr/>
        </p:nvSpPr>
        <p:spPr>
          <a:xfrm>
            <a:off x="822960" y="4261104"/>
            <a:ext cx="10515600" cy="45720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RNF events have no relationship to the sensor readings by construction — a hard ceiling on achievable recall that no model can lift.</a:t>
            </a:r>
            <a:endParaRPr lang="en-US" sz="1200" dirty="0"/>
          </a:p>
        </p:txBody>
      </p:sp>
      <p:sp>
        <p:nvSpPr>
          <p:cNvPr id="13" name="Shape 11"/>
          <p:cNvSpPr/>
          <p:nvPr/>
        </p:nvSpPr>
        <p:spPr>
          <a:xfrm>
            <a:off x="548640" y="4882896"/>
            <a:ext cx="11064240" cy="987552"/>
          </a:xfrm>
          <a:prstGeom prst="roundRect">
            <a:avLst>
              <a:gd name="adj" fmla="val 7407"/>
            </a:avLst>
          </a:prstGeom>
          <a:solidFill>
            <a:srgbClr val="F4F5F7"/>
          </a:solidFill>
          <a:ln w="12700">
            <a:solidFill>
              <a:srgbClr val="E4E6EA"/>
            </a:solidFill>
            <a:prstDash val="solid"/>
          </a:ln>
        </p:spPr>
        <p:txBody>
          <a:bodyPr/>
          <a:lstStyle/>
          <a:p>
            <a:endParaRPr lang="en-US"/>
          </a:p>
        </p:txBody>
      </p:sp>
      <p:sp>
        <p:nvSpPr>
          <p:cNvPr id="14" name="Text 12"/>
          <p:cNvSpPr txBox="1"/>
          <p:nvPr/>
        </p:nvSpPr>
        <p:spPr>
          <a:xfrm>
            <a:off x="822960" y="5010912"/>
            <a:ext cx="3931920" cy="292608"/>
          </a:xfrm>
          <a:prstGeom prst="rect">
            <a:avLst/>
          </a:prstGeom>
          <a:noFill/>
          <a:ln/>
        </p:spPr>
        <p:txBody>
          <a:bodyPr wrap="square" lIns="0" tIns="0" rIns="0" bIns="0" rtlCol="0" anchor="ctr"/>
          <a:lstStyle/>
          <a:p>
            <a:pPr marL="0" indent="0">
              <a:buNone/>
            </a:pPr>
            <a:r>
              <a:rPr lang="en-US" sz="1350" b="1" dirty="0">
                <a:solidFill>
                  <a:srgbClr val="1A1C20"/>
                </a:solidFill>
                <a:latin typeface="Calibri" pitchFamily="34" charset="0"/>
                <a:ea typeface="Calibri" pitchFamily="34" charset="-122"/>
                <a:cs typeface="Calibri" pitchFamily="34" charset="-120"/>
              </a:rPr>
              <a:t>The precision floor was chosen, not measured</a:t>
            </a:r>
            <a:endParaRPr lang="en-US" sz="1350" dirty="0"/>
          </a:p>
        </p:txBody>
      </p:sp>
      <p:sp>
        <p:nvSpPr>
          <p:cNvPr id="15" name="Text 13"/>
          <p:cNvSpPr txBox="1"/>
          <p:nvPr/>
        </p:nvSpPr>
        <p:spPr>
          <a:xfrm>
            <a:off x="822960" y="5340096"/>
            <a:ext cx="10515600" cy="45720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30% is a reasonable default. Real deployment should derive it from actual inspection and downtime costs.</a:t>
            </a:r>
            <a:endParaRPr lang="en-US" sz="1200" dirty="0"/>
          </a:p>
        </p:txBody>
      </p:sp>
      <p:sp>
        <p:nvSpPr>
          <p:cNvPr id="16" name="Text 14"/>
          <p:cNvSpPr txBox="1"/>
          <p:nvPr/>
        </p:nvSpPr>
        <p:spPr>
          <a:xfrm>
            <a:off x="548640" y="5989320"/>
            <a:ext cx="11064240" cy="457200"/>
          </a:xfrm>
          <a:prstGeom prst="rect">
            <a:avLst/>
          </a:prstGeom>
          <a:noFill/>
          <a:ln/>
        </p:spPr>
        <p:txBody>
          <a:bodyPr wrap="square" lIns="0" tIns="0" rIns="0" bIns="0" rtlCol="0" anchor="ctr"/>
          <a:lstStyle/>
          <a:p>
            <a:pPr marL="0" indent="0">
              <a:buNone/>
            </a:pPr>
            <a:r>
              <a:rPr lang="en-US" sz="1200" i="1" dirty="0">
                <a:solidFill>
                  <a:srgbClr val="E8A33D"/>
                </a:solidFill>
                <a:latin typeface="Calibri" pitchFamily="34" charset="0"/>
                <a:ea typeface="Calibri" pitchFamily="34" charset="-122"/>
                <a:cs typeface="Calibri" pitchFamily="34" charset="-120"/>
              </a:rPr>
              <a:t>Next: failure-mode classification · cost-based alerting from measured costs · statistical drift detection · sequence models if per-machine time series become available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2B2D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2D33"/>
          </a:solidFill>
          <a:ln w="12700">
            <a:solidFill>
              <a:srgbClr val="2B2D33"/>
            </a:solidFill>
            <a:prstDash val="solid"/>
          </a:ln>
        </p:spPr>
        <p:txBody>
          <a:bodyPr/>
          <a:lstStyle/>
          <a:p>
            <a:endParaRPr lang="en-US"/>
          </a:p>
        </p:txBody>
      </p:sp>
      <p:sp>
        <p:nvSpPr>
          <p:cNvPr id="3" name="Text 1"/>
          <p:cNvSpPr txBox="1"/>
          <p:nvPr/>
        </p:nvSpPr>
        <p:spPr>
          <a:xfrm>
            <a:off x="822960" y="868680"/>
            <a:ext cx="1051560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Three lessons — none of them a modelling technique</a:t>
            </a:r>
            <a:endParaRPr lang="en-US" sz="3200" dirty="0"/>
          </a:p>
        </p:txBody>
      </p:sp>
      <p:sp>
        <p:nvSpPr>
          <p:cNvPr id="4" name="Shape 2"/>
          <p:cNvSpPr/>
          <p:nvPr/>
        </p:nvSpPr>
        <p:spPr>
          <a:xfrm>
            <a:off x="822960" y="1874520"/>
            <a:ext cx="10515600" cy="1143000"/>
          </a:xfrm>
          <a:prstGeom prst="roundRect">
            <a:avLst>
              <a:gd name="adj" fmla="val 6400"/>
            </a:avLst>
          </a:prstGeom>
          <a:solidFill>
            <a:srgbClr val="3A3D45"/>
          </a:solidFill>
          <a:ln/>
        </p:spPr>
        <p:txBody>
          <a:bodyPr/>
          <a:lstStyle/>
          <a:p>
            <a:endParaRPr lang="en-US"/>
          </a:p>
        </p:txBody>
      </p:sp>
      <p:sp>
        <p:nvSpPr>
          <p:cNvPr id="5" name="Text 3"/>
          <p:cNvSpPr txBox="1"/>
          <p:nvPr/>
        </p:nvSpPr>
        <p:spPr>
          <a:xfrm>
            <a:off x="1097280" y="2203704"/>
            <a:ext cx="731520" cy="45720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1965960" y="2057400"/>
            <a:ext cx="905256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Understand your columns</a:t>
            </a:r>
            <a:endParaRPr lang="en-US" sz="1500" dirty="0"/>
          </a:p>
        </p:txBody>
      </p:sp>
      <p:sp>
        <p:nvSpPr>
          <p:cNvPr id="7" name="Text 5"/>
          <p:cNvSpPr txBox="1"/>
          <p:nvPr/>
        </p:nvSpPr>
        <p:spPr>
          <a:xfrm>
            <a:off x="1965960" y="2404872"/>
            <a:ext cx="9052560" cy="502920"/>
          </a:xfrm>
          <a:prstGeom prst="rect">
            <a:avLst/>
          </a:prstGeom>
          <a:noFill/>
          <a:ln/>
        </p:spPr>
        <p:txBody>
          <a:bodyPr wrap="square" lIns="0" tIns="0" rIns="0" bIns="0" rtlCol="0" anchor="ctr"/>
          <a:lstStyle/>
          <a:p>
            <a:pPr marL="0" indent="0">
              <a:buNone/>
            </a:pPr>
            <a:r>
              <a:rPr lang="en-US" sz="1250" dirty="0">
                <a:solidFill>
                  <a:srgbClr val="B8BEC9"/>
                </a:solidFill>
                <a:latin typeface="Calibri" pitchFamily="34" charset="0"/>
                <a:ea typeface="Calibri" pitchFamily="34" charset="-122"/>
                <a:cs typeface="Calibri" pitchFamily="34" charset="-120"/>
              </a:rPr>
              <a:t>The leakage produced impressive, meaningless results. Catching it required knowing what the data represented — not what it correlated with.</a:t>
            </a:r>
            <a:endParaRPr lang="en-US" sz="1250" dirty="0"/>
          </a:p>
        </p:txBody>
      </p:sp>
      <p:sp>
        <p:nvSpPr>
          <p:cNvPr id="8" name="Shape 6"/>
          <p:cNvSpPr/>
          <p:nvPr/>
        </p:nvSpPr>
        <p:spPr>
          <a:xfrm>
            <a:off x="822960" y="3154680"/>
            <a:ext cx="10515600" cy="1143000"/>
          </a:xfrm>
          <a:prstGeom prst="roundRect">
            <a:avLst>
              <a:gd name="adj" fmla="val 6400"/>
            </a:avLst>
          </a:prstGeom>
          <a:solidFill>
            <a:srgbClr val="3A3D45"/>
          </a:solidFill>
          <a:ln/>
        </p:spPr>
        <p:txBody>
          <a:bodyPr/>
          <a:lstStyle/>
          <a:p>
            <a:endParaRPr lang="en-US"/>
          </a:p>
        </p:txBody>
      </p:sp>
      <p:sp>
        <p:nvSpPr>
          <p:cNvPr id="9" name="Text 7"/>
          <p:cNvSpPr txBox="1"/>
          <p:nvPr/>
        </p:nvSpPr>
        <p:spPr>
          <a:xfrm>
            <a:off x="1097280" y="3483864"/>
            <a:ext cx="731520" cy="45720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02</a:t>
            </a:r>
            <a:endParaRPr lang="en-US" sz="2600" dirty="0"/>
          </a:p>
        </p:txBody>
      </p:sp>
      <p:sp>
        <p:nvSpPr>
          <p:cNvPr id="10" name="Text 8"/>
          <p:cNvSpPr txBox="1"/>
          <p:nvPr/>
        </p:nvSpPr>
        <p:spPr>
          <a:xfrm>
            <a:off x="1965960" y="3337560"/>
            <a:ext cx="905256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threshold ships with the model</a:t>
            </a:r>
            <a:endParaRPr lang="en-US" sz="1500" dirty="0"/>
          </a:p>
        </p:txBody>
      </p:sp>
      <p:sp>
        <p:nvSpPr>
          <p:cNvPr id="11" name="Text 9"/>
          <p:cNvSpPr txBox="1"/>
          <p:nvPr/>
        </p:nvSpPr>
        <p:spPr>
          <a:xfrm>
            <a:off x="1965960" y="3685032"/>
            <a:ext cx="9052560" cy="502920"/>
          </a:xfrm>
          <a:prstGeom prst="rect">
            <a:avLst/>
          </a:prstGeom>
          <a:noFill/>
          <a:ln/>
        </p:spPr>
        <p:txBody>
          <a:bodyPr wrap="square" lIns="0" tIns="0" rIns="0" bIns="0" rtlCol="0" anchor="ctr"/>
          <a:lstStyle/>
          <a:p>
            <a:pPr marL="0" indent="0">
              <a:buNone/>
            </a:pPr>
            <a:r>
              <a:rPr lang="en-US" sz="1250" dirty="0">
                <a:solidFill>
                  <a:srgbClr val="B8BEC9"/>
                </a:solidFill>
                <a:latin typeface="Calibri" pitchFamily="34" charset="0"/>
                <a:ea typeface="Calibri" pitchFamily="34" charset="-122"/>
                <a:cs typeface="Calibri" pitchFamily="34" charset="-120"/>
              </a:rPr>
              <a:t>All the tuning would have been wasted had it deployed at 0.5. A model artifact is not just weights.</a:t>
            </a:r>
            <a:endParaRPr lang="en-US" sz="1250" dirty="0"/>
          </a:p>
        </p:txBody>
      </p:sp>
      <p:sp>
        <p:nvSpPr>
          <p:cNvPr id="12" name="Shape 10"/>
          <p:cNvSpPr/>
          <p:nvPr/>
        </p:nvSpPr>
        <p:spPr>
          <a:xfrm>
            <a:off x="822960" y="4434840"/>
            <a:ext cx="10515600" cy="1143000"/>
          </a:xfrm>
          <a:prstGeom prst="roundRect">
            <a:avLst>
              <a:gd name="adj" fmla="val 6400"/>
            </a:avLst>
          </a:prstGeom>
          <a:solidFill>
            <a:srgbClr val="3A3D45"/>
          </a:solidFill>
          <a:ln/>
        </p:spPr>
        <p:txBody>
          <a:bodyPr/>
          <a:lstStyle/>
          <a:p>
            <a:endParaRPr lang="en-US"/>
          </a:p>
        </p:txBody>
      </p:sp>
      <p:sp>
        <p:nvSpPr>
          <p:cNvPr id="13" name="Text 11"/>
          <p:cNvSpPr txBox="1"/>
          <p:nvPr/>
        </p:nvSpPr>
        <p:spPr>
          <a:xfrm>
            <a:off x="1097280" y="4764024"/>
            <a:ext cx="731520" cy="45720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03</a:t>
            </a:r>
            <a:endParaRPr lang="en-US" sz="2600" dirty="0"/>
          </a:p>
        </p:txBody>
      </p:sp>
      <p:sp>
        <p:nvSpPr>
          <p:cNvPr id="14" name="Text 12"/>
          <p:cNvSpPr txBox="1"/>
          <p:nvPr/>
        </p:nvSpPr>
        <p:spPr>
          <a:xfrm>
            <a:off x="1965960" y="4617720"/>
            <a:ext cx="905256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Report the honest comparison</a:t>
            </a:r>
            <a:endParaRPr lang="en-US" sz="1500" dirty="0"/>
          </a:p>
        </p:txBody>
      </p:sp>
      <p:sp>
        <p:nvSpPr>
          <p:cNvPr id="15" name="Text 13"/>
          <p:cNvSpPr txBox="1"/>
          <p:nvPr/>
        </p:nvSpPr>
        <p:spPr>
          <a:xfrm>
            <a:off x="1965960" y="4965192"/>
            <a:ext cx="9052560" cy="502920"/>
          </a:xfrm>
          <a:prstGeom prst="rect">
            <a:avLst/>
          </a:prstGeom>
          <a:noFill/>
          <a:ln/>
        </p:spPr>
        <p:txBody>
          <a:bodyPr wrap="square" lIns="0" tIns="0" rIns="0" bIns="0" rtlCol="0" anchor="ctr"/>
          <a:lstStyle/>
          <a:p>
            <a:pPr marL="0" indent="0">
              <a:buNone/>
            </a:pPr>
            <a:r>
              <a:rPr lang="en-US" sz="1250" dirty="0">
                <a:solidFill>
                  <a:srgbClr val="B8BEC9"/>
                </a:solidFill>
                <a:latin typeface="Calibri" pitchFamily="34" charset="0"/>
                <a:ea typeface="Calibri" pitchFamily="34" charset="-122"/>
                <a:cs typeface="Calibri" pitchFamily="34" charset="-120"/>
              </a:rPr>
              <a:t>Deep learning lost to gradient boosting. Saying so, and explaining why it is expected, beats manufacturing a win.</a:t>
            </a:r>
            <a:endParaRPr lang="en-US" sz="1250" dirty="0"/>
          </a:p>
        </p:txBody>
      </p:sp>
      <p:sp>
        <p:nvSpPr>
          <p:cNvPr id="16" name="Text 14"/>
          <p:cNvSpPr txBox="1"/>
          <p:nvPr/>
        </p:nvSpPr>
        <p:spPr>
          <a:xfrm>
            <a:off x="822960" y="5897880"/>
            <a:ext cx="10515600" cy="384048"/>
          </a:xfrm>
          <a:prstGeom prst="rect">
            <a:avLst/>
          </a:prstGeom>
          <a:noFill/>
          <a:ln/>
        </p:spPr>
        <p:txBody>
          <a:bodyPr wrap="square" lIns="0" tIns="0" rIns="0" bIns="0" rtlCol="0" anchor="ctr"/>
          <a:lstStyle/>
          <a:p>
            <a:pPr marL="0" indent="0" algn="ctr">
              <a:buNone/>
            </a:pPr>
            <a:r>
              <a:rPr lang="en-US" sz="1800" b="1" dirty="0">
                <a:solidFill>
                  <a:srgbClr val="E8A33D"/>
                </a:solidFill>
                <a:latin typeface="Cambria" pitchFamily="34" charset="0"/>
                <a:ea typeface="Cambria" pitchFamily="34" charset="-122"/>
                <a:cs typeface="Cambria" pitchFamily="34" charset="-120"/>
              </a:rPr>
              <a:t>PR-AUC 0.894   ·   94% of failures caught   ·   5.9% missed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bd91289-cc79-436a-8ecb-5ebbe213e9b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DDA048CA279AF4397ED0D7243D20D3A" ma:contentTypeVersion="5" ma:contentTypeDescription="Create a new document." ma:contentTypeScope="" ma:versionID="bac98daccd1d5a5b82c4327c9ccbc139">
  <xsd:schema xmlns:xsd="http://www.w3.org/2001/XMLSchema" xmlns:xs="http://www.w3.org/2001/XMLSchema" xmlns:p="http://schemas.microsoft.com/office/2006/metadata/properties" xmlns:ns3="5bd91289-cc79-436a-8ecb-5ebbe213e9b9" targetNamespace="http://schemas.microsoft.com/office/2006/metadata/properties" ma:root="true" ma:fieldsID="80c39ac79fb6d1f10d189d4e8b6aba7e" ns3:_="">
    <xsd:import namespace="5bd91289-cc79-436a-8ecb-5ebbe213e9b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d91289-cc79-436a-8ecb-5ebbe213e9b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22624A-DC9A-434A-964D-F504DB918125}">
  <ds:schemaRefs>
    <ds:schemaRef ds:uri="http://purl.org/dc/elements/1.1/"/>
    <ds:schemaRef ds:uri="http://purl.org/dc/terms/"/>
    <ds:schemaRef ds:uri="http://schemas.microsoft.com/office/2006/metadata/propertie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5bd91289-cc79-436a-8ecb-5ebbe213e9b9"/>
    <ds:schemaRef ds:uri="http://purl.org/dc/dcmitype/"/>
  </ds:schemaRefs>
</ds:datastoreItem>
</file>

<file path=customXml/itemProps2.xml><?xml version="1.0" encoding="utf-8"?>
<ds:datastoreItem xmlns:ds="http://schemas.openxmlformats.org/officeDocument/2006/customXml" ds:itemID="{E9B4CAF9-5AB3-4DB8-9A2E-388367F81C65}">
  <ds:schemaRefs>
    <ds:schemaRef ds:uri="http://schemas.microsoft.com/sharepoint/v3/contenttype/forms"/>
  </ds:schemaRefs>
</ds:datastoreItem>
</file>

<file path=customXml/itemProps3.xml><?xml version="1.0" encoding="utf-8"?>
<ds:datastoreItem xmlns:ds="http://schemas.openxmlformats.org/officeDocument/2006/customXml" ds:itemID="{A643D8FB-84E3-413E-979D-C422967A4D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d91289-cc79-436a-8ecb-5ebbe213e9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52</TotalTime>
  <Words>2471</Words>
  <Application>Microsoft Office PowerPoint</Application>
  <PresentationFormat>Widescreen</PresentationFormat>
  <Paragraphs>181</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Predictive Maintenance</dc:title>
  <dc:subject>PptxGenJS Presentation</dc:subject>
  <dc:creator>Graduation Project</dc:creator>
  <cp:lastModifiedBy>جومانه محمود محمد محمود فرغلى</cp:lastModifiedBy>
  <cp:revision>2</cp:revision>
  <dcterms:created xsi:type="dcterms:W3CDTF">2026-09-16T14:16:46Z</dcterms:created>
  <dcterms:modified xsi:type="dcterms:W3CDTF">2026-09-16T20:15:05Z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0x0101005DDA048CA279AF4397ED0D7243D20D3A</vt:lpwstr>
  </property>
</Properties>
</file>